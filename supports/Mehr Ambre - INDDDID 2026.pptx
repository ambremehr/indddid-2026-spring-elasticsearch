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s/slide3.xml" ContentType="application/vnd.openxmlformats-officedocument.presentationml.slid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customXml/itemProps3.xml" ContentType="application/vnd.openxmlformats-officedocument.customXmlProperties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docProps/app.xml" ContentType="application/vnd.openxmlformats-officedocument.extended-properties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Layouts/slideLayout8.xml" ContentType="application/vnd.openxmlformats-officedocument.presentationml.slideLayout+xml"/>
  <Override PartName="/docProps/custom.xml" ContentType="application/vnd.openxmlformats-officedocument.custom-properties+xml"/>
  <Override PartName="/ppt/slides/slide17.xml" ContentType="application/vnd.openxmlformats-officedocument.presentationml.slide+xml"/>
  <Override PartName="/ppt/slides/slide12.xml" ContentType="application/vnd.openxmlformats-officedocument.presentationml.slide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>
  <p:sldMasterIdLst>
    <p:sldMasterId id="2147483648" r:id="rId4"/>
  </p:sldMasterIdLst>
  <p:notesMasterIdLst>
    <p:notesMasterId r:id="rId2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9144000"/>
  <p:custDataLst>
    <p:custData r:id="rId1"/>
    <p:custData r:id="rId2"/>
    <p:custData r:id="rId3"/>
  </p:custDataLst>
  <p:defaultTextStyle>
    <a:defPPr>
      <a:defRPr lang="fr-FR"/>
    </a:defPPr>
    <a:lvl1pPr algn="l" rtl="0">
      <a:spcBef>
        <a:spcPts val="0"/>
      </a:spcBef>
      <a:spcAft>
        <a:spcPts val="0"/>
      </a:spcAft>
      <a:defRPr>
        <a:solidFill>
          <a:schemeClr val="tx1"/>
        </a:solidFill>
        <a:latin typeface="Montserrat"/>
        <a:ea typeface="+mn-ea"/>
        <a:cs typeface="+mn-cs"/>
      </a:defRPr>
    </a:lvl1pPr>
    <a:lvl2pPr marL="457200" algn="l" rtl="0">
      <a:spcBef>
        <a:spcPts val="0"/>
      </a:spcBef>
      <a:spcAft>
        <a:spcPts val="0"/>
      </a:spcAft>
      <a:defRPr>
        <a:solidFill>
          <a:schemeClr val="tx1"/>
        </a:solidFill>
        <a:latin typeface="Montserrat"/>
        <a:ea typeface="+mn-ea"/>
        <a:cs typeface="+mn-cs"/>
      </a:defRPr>
    </a:lvl2pPr>
    <a:lvl3pPr marL="914400" algn="l" rtl="0">
      <a:spcBef>
        <a:spcPts val="0"/>
      </a:spcBef>
      <a:spcAft>
        <a:spcPts val="0"/>
      </a:spcAft>
      <a:defRPr>
        <a:solidFill>
          <a:schemeClr val="tx1"/>
        </a:solidFill>
        <a:latin typeface="Montserrat"/>
        <a:ea typeface="+mn-ea"/>
        <a:cs typeface="+mn-cs"/>
      </a:defRPr>
    </a:lvl3pPr>
    <a:lvl4pPr marL="1371600" algn="l" rtl="0">
      <a:spcBef>
        <a:spcPts val="0"/>
      </a:spcBef>
      <a:spcAft>
        <a:spcPts val="0"/>
      </a:spcAft>
      <a:defRPr>
        <a:solidFill>
          <a:schemeClr val="tx1"/>
        </a:solidFill>
        <a:latin typeface="Montserrat"/>
        <a:ea typeface="+mn-ea"/>
        <a:cs typeface="+mn-cs"/>
      </a:defRPr>
    </a:lvl4pPr>
    <a:lvl5pPr marL="1828800" algn="l" rtl="0">
      <a:spcBef>
        <a:spcPts val="0"/>
      </a:spcBef>
      <a:spcAft>
        <a:spcPts val="0"/>
      </a:spcAft>
      <a:defRPr>
        <a:solidFill>
          <a:schemeClr val="tx1"/>
        </a:solidFill>
        <a:latin typeface="Montserrat"/>
        <a:ea typeface="+mn-ea"/>
        <a:cs typeface="+mn-cs"/>
      </a:defRPr>
    </a:lvl5pPr>
    <a:lvl6pPr marL="2286000" algn="l" defTabSz="914400" rtl="0">
      <a:defRPr>
        <a:solidFill>
          <a:schemeClr val="tx1"/>
        </a:solidFill>
        <a:latin typeface="Montserrat"/>
        <a:ea typeface="+mn-ea"/>
        <a:cs typeface="+mn-cs"/>
      </a:defRPr>
    </a:lvl6pPr>
    <a:lvl7pPr marL="2743200" algn="l" defTabSz="914400" rtl="0">
      <a:defRPr>
        <a:solidFill>
          <a:schemeClr val="tx1"/>
        </a:solidFill>
        <a:latin typeface="Montserrat"/>
        <a:ea typeface="+mn-ea"/>
        <a:cs typeface="+mn-cs"/>
      </a:defRPr>
    </a:lvl7pPr>
    <a:lvl8pPr marL="3200400" algn="l" defTabSz="914400" rtl="0">
      <a:defRPr>
        <a:solidFill>
          <a:schemeClr val="tx1"/>
        </a:solidFill>
        <a:latin typeface="Montserrat"/>
        <a:ea typeface="+mn-ea"/>
        <a:cs typeface="+mn-cs"/>
      </a:defRPr>
    </a:lvl8pPr>
    <a:lvl9pPr marL="3657600" algn="l" defTabSz="914400" rtl="0">
      <a:defRPr>
        <a:solidFill>
          <a:schemeClr val="tx1"/>
        </a:solidFill>
        <a:latin typeface="Montserra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90" d="100"/>
          <a:sy n="90" d="100"/>
        </p:scale>
        <p:origin x="398" y="67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6" Type="http://schemas.openxmlformats.org/officeDocument/2006/relationships/theme" Target="theme/theme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1898953" name="Espace réservé de l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21219726" name="Espace réservé de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203BCEB-443C-4C21-BAA7-0712FD06FC4D}" type="datetimeFigureOut">
              <a:rPr lang="fr-FR"/>
              <a:t>24/06/2022</a:t>
            </a:fld>
            <a:endParaRPr lang="fr-FR"/>
          </a:p>
        </p:txBody>
      </p:sp>
      <p:sp>
        <p:nvSpPr>
          <p:cNvPr id="727235850" name="Espace réservé de l'image des diapositives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>
              <a:defRPr/>
            </a:pPr>
            <a:endParaRPr lang="fr-FR"/>
          </a:p>
        </p:txBody>
      </p:sp>
      <p:sp>
        <p:nvSpPr>
          <p:cNvPr id="924908774" name="Espace réservé des note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952593756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47111898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84430D0-15C3-4EBC-9940-2287ABD2C54B}" type="slidenum">
              <a:rPr lang="fr-FR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946942" name="Espace réservé de l'image des diapositives 1"/>
          <p:cNvSpPr>
            <a:spLocks noChangeAspect="1" noGrp="1" noRo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85196174" name="Espace réservé des notes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fr-FR"/>
          </a:p>
        </p:txBody>
      </p:sp>
      <p:sp>
        <p:nvSpPr>
          <p:cNvPr id="931434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 wrap="square" numCol="1" anchorCtr="0" compatLnSpc="1">
            <a:prstTxWarp prst="textNoShape"/>
          </a:bodyPr>
          <a:lstStyle>
            <a:lvl1pPr>
              <a:defRPr>
                <a:solidFill>
                  <a:schemeClr val="tx1"/>
                </a:solidFill>
                <a:latin typeface="Montserrat"/>
              </a:defRPr>
            </a:lvl1pPr>
            <a:lvl2pPr marL="742950" indent="-285750">
              <a:defRPr>
                <a:solidFill>
                  <a:schemeClr val="tx1"/>
                </a:solidFill>
                <a:latin typeface="Montserrat"/>
              </a:defRPr>
            </a:lvl2pPr>
            <a:lvl3pPr marL="1143000" indent="-228600">
              <a:defRPr>
                <a:solidFill>
                  <a:schemeClr val="tx1"/>
                </a:solidFill>
                <a:latin typeface="Montserrat"/>
              </a:defRPr>
            </a:lvl3pPr>
            <a:lvl4pPr marL="1600200" indent="-228600">
              <a:defRPr>
                <a:solidFill>
                  <a:schemeClr val="tx1"/>
                </a:solidFill>
                <a:latin typeface="Montserrat"/>
              </a:defRPr>
            </a:lvl4pPr>
            <a:lvl5pPr marL="2057400" indent="-228600">
              <a:defRPr>
                <a:solidFill>
                  <a:schemeClr val="tx1"/>
                </a:solidFill>
                <a:latin typeface="Montserrat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Montserrat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Montserrat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Montserrat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Montserrat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fld id="{CB561284-D04B-463B-8644-9ADA5C66C156}" type="slidenum">
              <a:rPr lang="fr-FR">
                <a:latin typeface="Calibri"/>
              </a:rPr>
              <a:t>1</a:t>
            </a:fld>
            <a:endParaRPr lang="fr-FR">
              <a:latin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99010" name="Espace réservé de l'image des diapositives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3676314" name="Espace réservé des not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1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Personnellement, je travaille dans la branche i-TEAM, qui s’occupe de l’infrastructure des services de la branche courrier colis</a:t>
            </a:r>
            <a:endParaRPr sz="1200"/>
          </a:p>
          <a:p>
            <a:pPr>
              <a:defRPr/>
            </a:pPr>
            <a:r>
              <a:rPr lang="fr-FR" sz="1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 Poste en quelques chiffres c’est :</a:t>
            </a:r>
            <a:endParaRPr sz="1200"/>
          </a:p>
          <a:p>
            <a:pPr>
              <a:defRPr/>
            </a:pPr>
            <a:r>
              <a:rPr lang="fr-FR" sz="1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</a:t>
            </a:r>
            <a:r>
              <a:rPr lang="fr-FR" sz="1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Milliards €</a:t>
            </a:r>
            <a:endParaRPr sz="1200"/>
          </a:p>
          <a:p>
            <a:pPr>
              <a:defRPr/>
            </a:pPr>
            <a:r>
              <a:rPr lang="fr-FR" sz="1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230 000 Collaborateurs</a:t>
            </a:r>
            <a:endParaRPr sz="1200"/>
          </a:p>
          <a:p>
            <a:pPr>
              <a:defRPr/>
            </a:pPr>
            <a:r>
              <a:rPr lang="fr-FR" sz="1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 Milliards de colis dans le monde par année</a:t>
            </a:r>
            <a:endParaRPr sz="1200"/>
          </a:p>
          <a:p>
            <a:pPr>
              <a:defRPr/>
            </a:pPr>
            <a:endParaRPr/>
          </a:p>
        </p:txBody>
      </p:sp>
      <p:sp>
        <p:nvSpPr>
          <p:cNvPr id="1503765149" name="Espace réservé du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E16D91-16AB-5A03-CC16-D71C798AC43D}" type="slidenum">
              <a:rPr lang="fr-FR"/>
              <a:t>4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84548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52801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1366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BF6A6-71E9-4822-C32F-C746C49E0F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8496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9911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4693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DDFAAB-5269-547D-7426-4CEE469629F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7984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58455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841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5AF51E-ED0C-2F63-C9F2-C4123F0C93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4332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54883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190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90FA91-0985-C021-A75F-F3EA048BA1A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0223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4692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93419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A1EF55-EBC5-2E76-9EEB-4D392FA696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5531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6673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9155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489C3B-AF3D-F682-E12E-1C86D365EF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F22FB0-1944-CE1F-3BDA-890F833C66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948377-BD72-AAD5-34DE-C8E63591EE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7079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32153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32835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3881D8-36CD-82BA-0343-1D753B32C9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2969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3282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512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E09F3C-2AFF-DF72-02D0-96E01A0832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4174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5903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2522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661EDF-0D52-B9BB-6CC9-54E7D4B76B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F7F78A-F9B0-10B5-35AA-C8CD2BF9AE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54093F-15C7-6D01-3DAD-DB4D807DC4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2DDEE4-9341-E702-F591-6EB2A8FA3C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7B02B6-D2AF-8B1D-9BC2-9F7642196A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2192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9035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0728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D3F7A9-0BC6-1139-2E70-79030D6796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Couvertu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7116390" name="Image 8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9266580" name="Titre 1"/>
          <p:cNvSpPr>
            <a:spLocks noGrp="1"/>
          </p:cNvSpPr>
          <p:nvPr>
            <p:ph type="ctrTitle"/>
          </p:nvPr>
        </p:nvSpPr>
        <p:spPr bwMode="auto">
          <a:xfrm>
            <a:off x="866775" y="327600"/>
            <a:ext cx="10980000" cy="3240000"/>
          </a:xfrm>
        </p:spPr>
        <p:txBody>
          <a:bodyPr>
            <a:noAutofit/>
          </a:bodyPr>
          <a:lstStyle>
            <a:lvl1pPr algn="r">
              <a:defRPr sz="6000" b="0" cap="none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809808050" name="Sous-titre 2"/>
          <p:cNvSpPr>
            <a:spLocks noGrp="1"/>
          </p:cNvSpPr>
          <p:nvPr>
            <p:ph type="subTitle" idx="1"/>
          </p:nvPr>
        </p:nvSpPr>
        <p:spPr bwMode="auto">
          <a:xfrm>
            <a:off x="866775" y="3583504"/>
            <a:ext cx="10980000" cy="720000"/>
          </a:xfrm>
        </p:spPr>
        <p:txBody>
          <a:bodyPr>
            <a:noAutofit/>
          </a:bodyPr>
          <a:lstStyle>
            <a:lvl1pPr marL="0" indent="0" algn="r">
              <a:buNone/>
              <a:defRPr sz="2200">
                <a:solidFill>
                  <a:schemeClr val="tx1"/>
                </a:solidFill>
                <a:latin typeface="Montserrat SemiBold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 lang="fr-FR"/>
          </a:p>
        </p:txBody>
      </p:sp>
      <p:sp>
        <p:nvSpPr>
          <p:cNvPr id="1244219842" name="ZoneTexte 4"/>
          <p:cNvSpPr txBox="1"/>
          <p:nvPr userDrawn="1"/>
        </p:nvSpPr>
        <p:spPr bwMode="auto">
          <a:xfrm>
            <a:off x="336550" y="142875"/>
            <a:ext cx="195495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fr-FR">
                <a:solidFill>
                  <a:schemeClr val="accent5"/>
                </a:solidFill>
                <a:latin typeface="Montserrat ExtraBold"/>
              </a:rPr>
              <a:t>i-TEAM</a:t>
            </a:r>
            <a:endParaRPr/>
          </a:p>
          <a:p>
            <a:pPr algn="l">
              <a:defRPr/>
            </a:pPr>
            <a:r>
              <a:rPr lang="fr-FR" sz="700">
                <a:solidFill>
                  <a:schemeClr val="accent5"/>
                </a:solidFill>
              </a:rPr>
              <a:t>Direction des services IT Groupe</a:t>
            </a:r>
            <a:endParaRPr/>
          </a:p>
        </p:txBody>
      </p:sp>
      <p:pic>
        <p:nvPicPr>
          <p:cNvPr id="1137207791" name="Image 6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57238" y="5956183"/>
            <a:ext cx="809537" cy="809537"/>
          </a:xfrm>
          <a:prstGeom prst="rect">
            <a:avLst/>
          </a:prstGeom>
        </p:spPr>
      </p:pic>
      <p:pic>
        <p:nvPicPr>
          <p:cNvPr id="1958071783" name="Image 1" descr="Une image contenant Police, Graphique, capture d’écran, graphisme&#10;&#10;Description générée automatiquement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 flipH="0" flipV="0">
            <a:off x="8884744" y="6063682"/>
            <a:ext cx="1476414" cy="399379"/>
          </a:xfrm>
          <a:prstGeom prst="rect">
            <a:avLst/>
          </a:prstGeom>
        </p:spPr>
      </p:pic>
      <p:pic>
        <p:nvPicPr>
          <p:cNvPr id="2015320537" name="Picture 2" descr="Logo, company name&#10;&#10;Description automatically generated"/>
          <p:cNvPicPr>
            <a:picLocks noChangeAspect="1"/>
          </p:cNvPicPr>
          <p:nvPr/>
        </p:nvPicPr>
        <p:blipFill rotWithShape="1">
          <a:blip r:embed="rId5"/>
          <a:srcRect l="0" t="0" r="1269" b="2617"/>
          <a:stretch/>
        </p:blipFill>
        <p:spPr bwMode="auto">
          <a:xfrm flipH="0" flipV="0">
            <a:off x="7497839" y="5991115"/>
            <a:ext cx="1252783" cy="54451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78266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81461542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367488262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8DA34C2-2D6D-4830-81C5-FE85C72700A3}" type="datetime1">
              <a:rPr lang="fr-FR"/>
              <a:t>24/06/2022</a:t>
            </a:fld>
            <a:endParaRPr lang="fr-FR"/>
          </a:p>
        </p:txBody>
      </p:sp>
      <p:sp>
        <p:nvSpPr>
          <p:cNvPr id="210149356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Titre de la présentation / Date</a:t>
            </a:r>
            <a:endParaRPr lang="fr-FR"/>
          </a:p>
        </p:txBody>
      </p:sp>
      <p:sp>
        <p:nvSpPr>
          <p:cNvPr id="1073473384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B7F55B22-A4B5-4191-AB5C-19C3103F6738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Texte avec fond log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2488076" name="Image 8"/>
          <p:cNvPicPr>
            <a:picLocks noChangeAspect="1"/>
          </p:cNvPicPr>
          <p:nvPr/>
        </p:nvPicPr>
        <p:blipFill rotWithShape="1">
          <a:blip r:embed="rId2"/>
          <a:srcRect l="5783" t="31480" r="11191" b="0"/>
          <a:stretch/>
        </p:blipFill>
        <p:spPr bwMode="auto">
          <a:xfrm>
            <a:off x="1690688" y="2159000"/>
            <a:ext cx="10118725" cy="469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7703820" name="Image 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758488" y="5878513"/>
            <a:ext cx="1130300" cy="736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9034058" name="Connecteur droit 5"/>
          <p:cNvCxnSpPr/>
          <p:nvPr/>
        </p:nvCxnSpPr>
        <p:spPr bwMode="auto">
          <a:xfrm>
            <a:off x="661988" y="6375400"/>
            <a:ext cx="5397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4122779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51620258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382866" y="1176341"/>
            <a:ext cx="11339999" cy="4680000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303008969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BC66D29-D161-41EB-BDBA-2DFE853B4BBE}" type="datetime1">
              <a:rPr lang="fr-FR"/>
              <a:t>24/06/2022</a:t>
            </a:fld>
            <a:endParaRPr lang="fr-FR"/>
          </a:p>
        </p:txBody>
      </p:sp>
      <p:sp>
        <p:nvSpPr>
          <p:cNvPr id="1876508069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fr-FR"/>
              <a:t>Titre de la présentation / Date</a:t>
            </a:r>
            <a:endParaRPr lang="fr-FR"/>
          </a:p>
        </p:txBody>
      </p:sp>
      <p:sp>
        <p:nvSpPr>
          <p:cNvPr id="1234916491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4678449-80E1-47AE-B44D-F04907D3A617}" type="slidenum">
              <a:rPr lang="fr-FR"/>
              <a:t>‹N°›</a:t>
            </a:fld>
            <a:endParaRPr lang="fr-FR"/>
          </a:p>
        </p:txBody>
      </p:sp>
      <p:sp>
        <p:nvSpPr>
          <p:cNvPr id="381378781" name="ZoneTexte 9"/>
          <p:cNvSpPr txBox="1"/>
          <p:nvPr userDrawn="1"/>
        </p:nvSpPr>
        <p:spPr bwMode="auto">
          <a:xfrm>
            <a:off x="336550" y="142875"/>
            <a:ext cx="195495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fr-FR">
                <a:solidFill>
                  <a:schemeClr val="accent5"/>
                </a:solidFill>
                <a:latin typeface="Montserrat ExtraBold"/>
              </a:rPr>
              <a:t>i-TEAM</a:t>
            </a:r>
            <a:endParaRPr/>
          </a:p>
          <a:p>
            <a:pPr algn="l">
              <a:defRPr/>
            </a:pPr>
            <a:r>
              <a:rPr lang="fr-FR" sz="700">
                <a:solidFill>
                  <a:schemeClr val="accent5"/>
                </a:solidFill>
              </a:rPr>
              <a:t>Direction des services IT Groupe</a:t>
            </a:r>
            <a:endParaRPr/>
          </a:p>
        </p:txBody>
      </p:sp>
      <p:pic>
        <p:nvPicPr>
          <p:cNvPr id="621833441" name="Image 10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>
            <a:off x="57238" y="5956183"/>
            <a:ext cx="809537" cy="809537"/>
          </a:xfrm>
          <a:prstGeom prst="rect">
            <a:avLst/>
          </a:prstGeom>
        </p:spPr>
      </p:pic>
      <p:pic>
        <p:nvPicPr>
          <p:cNvPr id="1546995006" name="Image 1" descr="Une image contenant Police, Graphique, capture d’écran, graphisme&#10;&#10;Description générée automatiquement"/>
          <p:cNvPicPr>
            <a:picLocks noChangeAspect="1"/>
          </p:cNvPicPr>
          <p:nvPr userDrawn="1"/>
        </p:nvPicPr>
        <p:blipFill rotWithShape="1">
          <a:blip r:embed="rId5"/>
          <a:stretch/>
        </p:blipFill>
        <p:spPr bwMode="auto">
          <a:xfrm>
            <a:off x="10003525" y="6270287"/>
            <a:ext cx="754961" cy="204221"/>
          </a:xfrm>
          <a:prstGeom prst="rect">
            <a:avLst/>
          </a:prstGeom>
        </p:spPr>
      </p:pic>
      <p:pic>
        <p:nvPicPr>
          <p:cNvPr id="2083771762" name="Picture 2" descr="Logo, company name&#10;&#10;Description automatically generated"/>
          <p:cNvPicPr>
            <a:picLocks noChangeAspect="1"/>
          </p:cNvPicPr>
          <p:nvPr/>
        </p:nvPicPr>
        <p:blipFill rotWithShape="1">
          <a:blip r:embed="rId6"/>
          <a:srcRect l="0" t="0" r="1269" b="2617"/>
          <a:stretch/>
        </p:blipFill>
        <p:spPr bwMode="auto">
          <a:xfrm flipH="0" flipV="0">
            <a:off x="9074103" y="6199985"/>
            <a:ext cx="793350" cy="3448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secHead" userDrawn="1">
  <p:cSld name="Ouverture de chap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7831727" name="Image 8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2520005" name="Connecteur droit 4"/>
          <p:cNvCxnSpPr/>
          <p:nvPr/>
        </p:nvCxnSpPr>
        <p:spPr bwMode="auto">
          <a:xfrm>
            <a:off x="661988" y="6375400"/>
            <a:ext cx="5397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1545193" name="Titre 1"/>
          <p:cNvSpPr>
            <a:spLocks noGrp="1"/>
          </p:cNvSpPr>
          <p:nvPr>
            <p:ph type="title"/>
          </p:nvPr>
        </p:nvSpPr>
        <p:spPr bwMode="auto">
          <a:xfrm>
            <a:off x="533720" y="1016795"/>
            <a:ext cx="11160000" cy="1800000"/>
          </a:xfrm>
        </p:spPr>
        <p:txBody>
          <a:bodyPr>
            <a:noAutofit/>
          </a:bodyPr>
          <a:lstStyle>
            <a:lvl1pPr algn="r">
              <a:defRPr sz="4500" b="0" cap="none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8390507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533720" y="2806699"/>
            <a:ext cx="11160000" cy="1440000"/>
          </a:xfrm>
        </p:spPr>
        <p:txBody>
          <a:bodyPr>
            <a:noAutofit/>
          </a:bodyPr>
          <a:lstStyle>
            <a:lvl1pPr marL="0" indent="0" algn="r">
              <a:buNone/>
              <a:defRPr sz="3500" cap="none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284640437" name="Espace réservé du numéro de diapositive 5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CFA8A3B-E1E1-4334-9AFA-4D7CC751145E}" type="slidenum">
              <a:rPr lang="fr-FR"/>
              <a:t>‹N°›</a:t>
            </a:fld>
            <a:endParaRPr lang="fr-FR"/>
          </a:p>
        </p:txBody>
      </p:sp>
      <p:sp>
        <p:nvSpPr>
          <p:cNvPr id="113094354" name="Espace réservé de la date 3"/>
          <p:cNvSpPr>
            <a:spLocks noGrp="1"/>
          </p:cNvSpPr>
          <p:nvPr>
            <p:ph type="dt" sz="half" idx="11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73BAA6A-AE92-4D50-BEFE-42D8EB2AF9EA}" type="datetime1">
              <a:rPr lang="fr-FR"/>
              <a:t>24/06/2022</a:t>
            </a:fld>
            <a:endParaRPr lang="fr-FR"/>
          </a:p>
        </p:txBody>
      </p:sp>
      <p:sp>
        <p:nvSpPr>
          <p:cNvPr id="834110925" name="Espace réservé du pied de page 4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fr-FR"/>
              <a:t>Titre de la présentation / Date</a:t>
            </a:r>
            <a:endParaRPr lang="fr-FR"/>
          </a:p>
        </p:txBody>
      </p:sp>
      <p:pic>
        <p:nvPicPr>
          <p:cNvPr id="1947285728" name="Image 8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57238" y="5956183"/>
            <a:ext cx="809537" cy="809537"/>
          </a:xfrm>
          <a:prstGeom prst="rect">
            <a:avLst/>
          </a:prstGeom>
        </p:spPr>
      </p:pic>
      <p:pic>
        <p:nvPicPr>
          <p:cNvPr id="833895985" name="Image 1" descr="Une image contenant Police, Graphique, capture d’écran, graphisme&#10;&#10;Description générée automatiquement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 flipH="0" flipV="0">
            <a:off x="8884743" y="6063682"/>
            <a:ext cx="1476414" cy="399378"/>
          </a:xfrm>
          <a:prstGeom prst="rect">
            <a:avLst/>
          </a:prstGeom>
        </p:spPr>
      </p:pic>
      <p:pic>
        <p:nvPicPr>
          <p:cNvPr id="113316954" name="Picture 2" descr="Logo, company name&#10;&#10;Description automatically generated"/>
          <p:cNvPicPr>
            <a:picLocks noChangeAspect="1"/>
          </p:cNvPicPr>
          <p:nvPr/>
        </p:nvPicPr>
        <p:blipFill rotWithShape="1">
          <a:blip r:embed="rId5"/>
          <a:srcRect l="0" t="0" r="1269" b="2617"/>
          <a:stretch/>
        </p:blipFill>
        <p:spPr bwMode="auto">
          <a:xfrm flipH="0" flipV="0">
            <a:off x="7497837" y="5991114"/>
            <a:ext cx="1252782" cy="5445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exte avec schéma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2573099" name="Espace réservé du texte 8"/>
          <p:cNvSpPr>
            <a:spLocks noGrp="1"/>
          </p:cNvSpPr>
          <p:nvPr>
            <p:ph type="body" sz="quarter" idx="14"/>
          </p:nvPr>
        </p:nvSpPr>
        <p:spPr bwMode="auto">
          <a:xfrm>
            <a:off x="1968501" y="4427673"/>
            <a:ext cx="1161988" cy="347747"/>
          </a:xfrm>
        </p:spPr>
        <p:txBody>
          <a:bodyPr>
            <a:noAutofit/>
          </a:bodyPr>
          <a:lstStyle>
            <a:lvl1pPr algn="ctr">
              <a:defRPr sz="1900">
                <a:solidFill>
                  <a:schemeClr val="tx1"/>
                </a:solidFill>
                <a:latin typeface="Montserrat Medium"/>
              </a:defRPr>
            </a:lvl1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430106658" name="Espace réservé du texte 8"/>
          <p:cNvSpPr>
            <a:spLocks noGrp="1"/>
          </p:cNvSpPr>
          <p:nvPr>
            <p:ph type="body" sz="quarter" idx="15"/>
          </p:nvPr>
        </p:nvSpPr>
        <p:spPr bwMode="auto">
          <a:xfrm>
            <a:off x="5520445" y="4427673"/>
            <a:ext cx="1161988" cy="347747"/>
          </a:xfrm>
        </p:spPr>
        <p:txBody>
          <a:bodyPr>
            <a:noAutofit/>
          </a:bodyPr>
          <a:lstStyle>
            <a:lvl1pPr algn="ctr">
              <a:defRPr sz="1900">
                <a:solidFill>
                  <a:schemeClr val="tx1"/>
                </a:solidFill>
                <a:latin typeface="Montserrat Medium"/>
              </a:defRPr>
            </a:lvl1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270768045" name="Espace réservé du texte 8"/>
          <p:cNvSpPr>
            <a:spLocks noGrp="1"/>
          </p:cNvSpPr>
          <p:nvPr>
            <p:ph type="body" sz="quarter" idx="16"/>
          </p:nvPr>
        </p:nvSpPr>
        <p:spPr bwMode="auto">
          <a:xfrm>
            <a:off x="9148591" y="4427673"/>
            <a:ext cx="1161988" cy="347747"/>
          </a:xfrm>
        </p:spPr>
        <p:txBody>
          <a:bodyPr>
            <a:noAutofit/>
          </a:bodyPr>
          <a:lstStyle>
            <a:lvl1pPr algn="ctr">
              <a:defRPr sz="1900">
                <a:solidFill>
                  <a:schemeClr val="tx1"/>
                </a:solidFill>
                <a:latin typeface="Montserrat Medium"/>
              </a:defRPr>
            </a:lvl1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725756264" name="Espace réservé du texte 8"/>
          <p:cNvSpPr>
            <a:spLocks noGrp="1"/>
          </p:cNvSpPr>
          <p:nvPr>
            <p:ph type="body" sz="quarter" idx="17"/>
          </p:nvPr>
        </p:nvSpPr>
        <p:spPr bwMode="auto">
          <a:xfrm>
            <a:off x="830030" y="3059516"/>
            <a:ext cx="3438928" cy="504000"/>
          </a:xfrm>
        </p:spPr>
        <p:txBody>
          <a:bodyPr>
            <a:noAutofit/>
          </a:bodyPr>
          <a:lstStyle>
            <a:lvl1pPr algn="ctr">
              <a:defRPr sz="1300">
                <a:solidFill>
                  <a:schemeClr val="tx1"/>
                </a:solidFill>
                <a:latin typeface="Montserrat SemiBold"/>
              </a:defRPr>
            </a:lvl1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2138287722" name="Espace réservé du texte 8"/>
          <p:cNvSpPr>
            <a:spLocks noGrp="1"/>
          </p:cNvSpPr>
          <p:nvPr>
            <p:ph type="body" sz="quarter" idx="18"/>
          </p:nvPr>
        </p:nvSpPr>
        <p:spPr bwMode="auto">
          <a:xfrm>
            <a:off x="4381975" y="3059516"/>
            <a:ext cx="3438928" cy="504000"/>
          </a:xfrm>
        </p:spPr>
        <p:txBody>
          <a:bodyPr>
            <a:noAutofit/>
          </a:bodyPr>
          <a:lstStyle>
            <a:lvl1pPr algn="ctr">
              <a:defRPr sz="1300">
                <a:solidFill>
                  <a:schemeClr val="tx1"/>
                </a:solidFill>
                <a:latin typeface="Montserrat SemiBold"/>
              </a:defRPr>
            </a:lvl1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509401988" name="Espace réservé du texte 8"/>
          <p:cNvSpPr>
            <a:spLocks noGrp="1"/>
          </p:cNvSpPr>
          <p:nvPr>
            <p:ph type="body" sz="quarter" idx="19"/>
          </p:nvPr>
        </p:nvSpPr>
        <p:spPr bwMode="auto">
          <a:xfrm>
            <a:off x="8010122" y="3059516"/>
            <a:ext cx="3438928" cy="504000"/>
          </a:xfrm>
        </p:spPr>
        <p:txBody>
          <a:bodyPr>
            <a:noAutofit/>
          </a:bodyPr>
          <a:lstStyle>
            <a:lvl1pPr algn="ctr">
              <a:defRPr sz="1300">
                <a:solidFill>
                  <a:schemeClr val="tx1"/>
                </a:solidFill>
                <a:latin typeface="Montserrat SemiBold"/>
              </a:defRPr>
            </a:lvl1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278522071" name="Titre 2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281954956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382866" y="1176341"/>
            <a:ext cx="11340000" cy="16920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88288818" name="Espace réservé de la date 3"/>
          <p:cNvSpPr>
            <a:spLocks noGrp="1"/>
          </p:cNvSpPr>
          <p:nvPr>
            <p:ph type="dt" sz="half" idx="20"/>
          </p:nvPr>
        </p:nvSpPr>
        <p:spPr bwMode="auto">
          <a:xfrm>
            <a:off x="5375275" y="6238875"/>
            <a:ext cx="1439863" cy="252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6A7C2C2-A7D3-4CAF-9562-21DE23A961F9}" type="datetime1">
              <a:rPr lang="fr-FR"/>
              <a:t>24/06/2022</a:t>
            </a:fld>
            <a:endParaRPr lang="fr-FR"/>
          </a:p>
        </p:txBody>
      </p:sp>
      <p:sp>
        <p:nvSpPr>
          <p:cNvPr id="2039923263" name="Espace réservé du pied de page 4"/>
          <p:cNvSpPr>
            <a:spLocks noGrp="1"/>
          </p:cNvSpPr>
          <p:nvPr>
            <p:ph type="ftr" sz="quarter" idx="21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fr-FR"/>
              <a:t>Titre de la présentation / Date</a:t>
            </a:r>
            <a:endParaRPr lang="fr-FR"/>
          </a:p>
        </p:txBody>
      </p:sp>
      <p:sp>
        <p:nvSpPr>
          <p:cNvPr id="1420511701" name="Espace réservé du numéro de diapositive 5"/>
          <p:cNvSpPr>
            <a:spLocks noGrp="1"/>
          </p:cNvSpPr>
          <p:nvPr>
            <p:ph type="sldNum" sz="quarter" idx="22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C718E4B-394D-4333-8CB3-24CF8885C422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exte avec 1 graphiqu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0598517" name="Titre 1"/>
          <p:cNvSpPr>
            <a:spLocks noGrp="1"/>
          </p:cNvSpPr>
          <p:nvPr>
            <p:ph type="title"/>
          </p:nvPr>
        </p:nvSpPr>
        <p:spPr bwMode="auto">
          <a:xfrm>
            <a:off x="381600" y="142082"/>
            <a:ext cx="11339999" cy="10800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944297169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381600" y="1176341"/>
            <a:ext cx="5519711" cy="46800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32176552" name="Espace réservé du graphique 7"/>
          <p:cNvSpPr>
            <a:spLocks noGrp="1"/>
          </p:cNvSpPr>
          <p:nvPr>
            <p:ph type="chart" sz="quarter" idx="14"/>
          </p:nvPr>
        </p:nvSpPr>
        <p:spPr bwMode="auto">
          <a:xfrm>
            <a:off x="6254249" y="1550741"/>
            <a:ext cx="5467350" cy="4305600"/>
          </a:xfrm>
        </p:spPr>
        <p:txBody>
          <a:bodyPr rtlCol="0" anchor="ctr">
            <a:no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fr-FR"/>
              <a:t>Cliquez sur l'icône pour ajouter un graphique</a:t>
            </a:r>
            <a:endParaRPr lang="fr-FR"/>
          </a:p>
        </p:txBody>
      </p:sp>
      <p:sp>
        <p:nvSpPr>
          <p:cNvPr id="724564136" name="Espace réservé de la date 3"/>
          <p:cNvSpPr>
            <a:spLocks noGrp="1"/>
          </p:cNvSpPr>
          <p:nvPr>
            <p:ph type="dt" sz="half" idx="15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C3CBD79-EF9E-4B0F-B56E-74A8FE880D8C}" type="datetime1">
              <a:rPr lang="fr-FR"/>
              <a:t>24/06/2022</a:t>
            </a:fld>
            <a:endParaRPr lang="fr-FR"/>
          </a:p>
        </p:txBody>
      </p:sp>
      <p:sp>
        <p:nvSpPr>
          <p:cNvPr id="1621113703" name="Espace réservé du pied de page 4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Titre de la présentation / Date</a:t>
            </a:r>
            <a:endParaRPr lang="fr-FR"/>
          </a:p>
        </p:txBody>
      </p:sp>
      <p:sp>
        <p:nvSpPr>
          <p:cNvPr id="18110237" name="Espace réservé du numéro de diapositive 5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0072273A-AEC0-48C7-927B-96207EB7C93D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exte avec 1 pho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820337" name="Titre 1"/>
          <p:cNvSpPr>
            <a:spLocks noGrp="1"/>
          </p:cNvSpPr>
          <p:nvPr>
            <p:ph type="title"/>
          </p:nvPr>
        </p:nvSpPr>
        <p:spPr bwMode="auto">
          <a:xfrm>
            <a:off x="6203156" y="142082"/>
            <a:ext cx="5519711" cy="10800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995689725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6203154" y="1176341"/>
            <a:ext cx="5519711" cy="46800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653579432" name="Espace réservé pour une image  2"/>
          <p:cNvSpPr>
            <a:spLocks noGrp="1"/>
          </p:cNvSpPr>
          <p:nvPr>
            <p:ph type="pic" idx="13"/>
          </p:nvPr>
        </p:nvSpPr>
        <p:spPr bwMode="auto">
          <a:xfrm>
            <a:off x="432593" y="742951"/>
            <a:ext cx="5466557" cy="43053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 lang="fr-FR"/>
              <a:t>Cliquez sur l'icône pour ajouter une image</a:t>
            </a:r>
            <a:endParaRPr lang="fr-FR"/>
          </a:p>
        </p:txBody>
      </p:sp>
      <p:sp>
        <p:nvSpPr>
          <p:cNvPr id="1229370071" name="Espace réservé de la date 3"/>
          <p:cNvSpPr>
            <a:spLocks noGrp="1"/>
          </p:cNvSpPr>
          <p:nvPr>
            <p:ph type="dt" sz="half" idx="14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05D8C407-DFC3-48FB-BA7C-88C826F6C43F}" type="datetime1">
              <a:rPr lang="fr-FR"/>
              <a:t>24/06/2022</a:t>
            </a:fld>
            <a:endParaRPr lang="fr-FR"/>
          </a:p>
        </p:txBody>
      </p:sp>
      <p:sp>
        <p:nvSpPr>
          <p:cNvPr id="1829424515" name="Espace réservé du pied de page 4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Titre de la présentation / Date</a:t>
            </a:r>
            <a:endParaRPr lang="fr-FR"/>
          </a:p>
        </p:txBody>
      </p:sp>
      <p:sp>
        <p:nvSpPr>
          <p:cNvPr id="1566908941" name="Espace réservé du numéro de diapositive 5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3D2DAEB-5565-4F76-87F1-798A03D2ED0D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Photo avec un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386392" name="Titre 1"/>
          <p:cNvSpPr>
            <a:spLocks noGrp="1"/>
          </p:cNvSpPr>
          <p:nvPr>
            <p:ph type="title"/>
          </p:nvPr>
        </p:nvSpPr>
        <p:spPr bwMode="auto">
          <a:xfrm>
            <a:off x="381599" y="142082"/>
            <a:ext cx="11340000" cy="10800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669478443" name="Espace réservé pour une image  2"/>
          <p:cNvSpPr>
            <a:spLocks noGrp="1"/>
          </p:cNvSpPr>
          <p:nvPr>
            <p:ph type="pic" idx="13"/>
          </p:nvPr>
        </p:nvSpPr>
        <p:spPr bwMode="auto">
          <a:xfrm>
            <a:off x="432592" y="1285875"/>
            <a:ext cx="11289007" cy="45704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 lang="fr-FR"/>
              <a:t>Cliquez sur l'icône pour ajouter une image</a:t>
            </a:r>
            <a:endParaRPr lang="fr-FR"/>
          </a:p>
        </p:txBody>
      </p:sp>
      <p:sp>
        <p:nvSpPr>
          <p:cNvPr id="1373532522" name="Espace réservé de la date 3"/>
          <p:cNvSpPr>
            <a:spLocks noGrp="1"/>
          </p:cNvSpPr>
          <p:nvPr>
            <p:ph type="dt" sz="half" idx="14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4E9C1564-DFDB-4FAC-838F-BCFDCA06FE50}" type="datetime1">
              <a:rPr lang="fr-FR"/>
              <a:t>24/06/2022</a:t>
            </a:fld>
            <a:endParaRPr lang="fr-FR"/>
          </a:p>
        </p:txBody>
      </p:sp>
      <p:sp>
        <p:nvSpPr>
          <p:cNvPr id="1893859544" name="Espace réservé du pied de page 4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Titre de la présentation / Date</a:t>
            </a:r>
            <a:endParaRPr lang="fr-FR"/>
          </a:p>
        </p:txBody>
      </p:sp>
      <p:sp>
        <p:nvSpPr>
          <p:cNvPr id="937015265" name="Espace réservé du numéro de diapositive 5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3070FF0-95E9-4E6C-A7F5-DAD025D0E00B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Phrase en exergue avec fond uni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5024033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516000" y="551164"/>
            <a:ext cx="11160000" cy="4680000"/>
          </a:xfrm>
        </p:spPr>
        <p:txBody>
          <a:bodyPr anchor="ctr">
            <a:noAutofit/>
          </a:bodyPr>
          <a:lstStyle>
            <a:lvl1pPr algn="ctr">
              <a:defRPr sz="3500" b="1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11754773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FF918EA1-C1CE-4909-A2D4-29A175B1C5D0}" type="datetime1">
              <a:rPr lang="fr-FR"/>
              <a:t>24/06/2022</a:t>
            </a:fld>
            <a:endParaRPr lang="fr-FR"/>
          </a:p>
        </p:txBody>
      </p:sp>
      <p:sp>
        <p:nvSpPr>
          <p:cNvPr id="534483299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Titre de la présentation / Date</a:t>
            </a:r>
            <a:endParaRPr lang="fr-FR"/>
          </a:p>
        </p:txBody>
      </p:sp>
      <p:sp>
        <p:nvSpPr>
          <p:cNvPr id="1882783581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F86931D6-F4FD-44EA-BE73-63BBC7C857F4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Phrase en exergue avec fond log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6496623" name="Image 8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495300"/>
            <a:ext cx="10455275" cy="5737225"/>
          </a:xfrm>
          <a:prstGeom prst="rect">
            <a:avLst/>
          </a:prstGeom>
          <a:noFill/>
          <a:ln>
            <a:noFill/>
          </a:ln>
        </p:spPr>
      </p:pic>
      <p:sp>
        <p:nvSpPr>
          <p:cNvPr id="490079990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516000" y="810968"/>
            <a:ext cx="11160000" cy="4680000"/>
          </a:xfrm>
        </p:spPr>
        <p:txBody>
          <a:bodyPr anchor="ctr">
            <a:noAutofit/>
          </a:bodyPr>
          <a:lstStyle>
            <a:lvl1pPr algn="ctr">
              <a:defRPr sz="3500" b="1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300121787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4D62577-84B2-46BB-AEB3-A886DC140F9F}" type="datetime1">
              <a:rPr lang="fr-FR"/>
              <a:t>24/06/2022</a:t>
            </a:fld>
            <a:endParaRPr lang="fr-FR"/>
          </a:p>
        </p:txBody>
      </p:sp>
      <p:sp>
        <p:nvSpPr>
          <p:cNvPr id="80461561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fr-FR"/>
              <a:t>Titre de la présentation / Date</a:t>
            </a:r>
            <a:endParaRPr/>
          </a:p>
        </p:txBody>
      </p:sp>
      <p:sp>
        <p:nvSpPr>
          <p:cNvPr id="1044823683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2A739C6-F0A0-47A6-851E-7944F8F150A1}" type="slidenum">
              <a:rPr lang="fr-FR"/>
              <a:t>‹N°›</a:t>
            </a:fld>
            <a:endParaRPr lang="fr-FR"/>
          </a:p>
        </p:txBody>
      </p:sp>
      <p:sp>
        <p:nvSpPr>
          <p:cNvPr id="1296531372" name="ZoneTexte 7"/>
          <p:cNvSpPr txBox="1"/>
          <p:nvPr userDrawn="1"/>
        </p:nvSpPr>
        <p:spPr bwMode="auto">
          <a:xfrm>
            <a:off x="336550" y="142875"/>
            <a:ext cx="195495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fr-FR">
                <a:solidFill>
                  <a:schemeClr val="accent5"/>
                </a:solidFill>
                <a:latin typeface="Montserrat ExtraBold"/>
              </a:rPr>
              <a:t>i-TEAM</a:t>
            </a:r>
            <a:endParaRPr/>
          </a:p>
          <a:p>
            <a:pPr algn="l">
              <a:defRPr/>
            </a:pPr>
            <a:r>
              <a:rPr lang="fr-FR" sz="700">
                <a:solidFill>
                  <a:schemeClr val="accent5"/>
                </a:solidFill>
              </a:rPr>
              <a:t>Direction des services IT Groupe</a:t>
            </a:r>
            <a:endParaRPr/>
          </a:p>
        </p:txBody>
      </p:sp>
      <p:pic>
        <p:nvPicPr>
          <p:cNvPr id="574988227" name="Image 8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57238" y="5956183"/>
            <a:ext cx="809537" cy="80953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Merci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1531705" name="Image 8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7728608" name="Titre 1"/>
          <p:cNvSpPr>
            <a:spLocks noGrp="1"/>
          </p:cNvSpPr>
          <p:nvPr>
            <p:ph type="ctrTitle"/>
          </p:nvPr>
        </p:nvSpPr>
        <p:spPr bwMode="auto">
          <a:xfrm>
            <a:off x="866775" y="327600"/>
            <a:ext cx="10980000" cy="3240000"/>
          </a:xfrm>
        </p:spPr>
        <p:txBody>
          <a:bodyPr>
            <a:noAutofit/>
          </a:bodyPr>
          <a:lstStyle>
            <a:lvl1pPr algn="r">
              <a:defRPr sz="6000" b="0" cap="none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806024970" name="ZoneTexte 3"/>
          <p:cNvSpPr txBox="1"/>
          <p:nvPr userDrawn="1"/>
        </p:nvSpPr>
        <p:spPr bwMode="auto">
          <a:xfrm>
            <a:off x="336550" y="142875"/>
            <a:ext cx="195495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fr-FR">
                <a:solidFill>
                  <a:schemeClr val="accent5"/>
                </a:solidFill>
                <a:latin typeface="Montserrat ExtraBold"/>
              </a:rPr>
              <a:t>i-TEAM</a:t>
            </a:r>
            <a:endParaRPr/>
          </a:p>
          <a:p>
            <a:pPr algn="l">
              <a:defRPr/>
            </a:pPr>
            <a:r>
              <a:rPr lang="fr-FR" sz="700">
                <a:solidFill>
                  <a:schemeClr val="accent5"/>
                </a:solidFill>
              </a:rPr>
              <a:t>Direction des services IT Groupe</a:t>
            </a:r>
            <a:endParaRPr/>
          </a:p>
        </p:txBody>
      </p:sp>
      <p:pic>
        <p:nvPicPr>
          <p:cNvPr id="247174006" name="Image 4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57238" y="5956183"/>
            <a:ext cx="809537" cy="809537"/>
          </a:xfrm>
          <a:prstGeom prst="rect">
            <a:avLst/>
          </a:prstGeom>
        </p:spPr>
      </p:pic>
      <p:pic>
        <p:nvPicPr>
          <p:cNvPr id="733047322" name="Image 1" descr="Une image contenant Police, Graphique, capture d’écran, graphisme&#10;&#10;Description générée automatiquement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 flipH="0" flipV="0">
            <a:off x="8884743" y="6063682"/>
            <a:ext cx="1476414" cy="399378"/>
          </a:xfrm>
          <a:prstGeom prst="rect">
            <a:avLst/>
          </a:prstGeom>
        </p:spPr>
      </p:pic>
      <p:pic>
        <p:nvPicPr>
          <p:cNvPr id="1971862434" name="Picture 2" descr="Logo, company name&#10;&#10;Description automatically generated"/>
          <p:cNvPicPr>
            <a:picLocks noChangeAspect="1"/>
          </p:cNvPicPr>
          <p:nvPr/>
        </p:nvPicPr>
        <p:blipFill rotWithShape="1">
          <a:blip r:embed="rId5"/>
          <a:srcRect l="0" t="0" r="1269" b="2617"/>
          <a:stretch/>
        </p:blipFill>
        <p:spPr bwMode="auto">
          <a:xfrm flipH="0" flipV="0">
            <a:off x="7497837" y="5991114"/>
            <a:ext cx="1252782" cy="54451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4173682" name="Image 12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>
            <a:off x="10758488" y="5878513"/>
            <a:ext cx="1130300" cy="7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105023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382588" y="142875"/>
            <a:ext cx="11339512" cy="10795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/>
          </a:bodyPr>
          <a:lstStyle/>
          <a:p>
            <a:pPr lvl="0"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363828611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382588" y="1176338"/>
            <a:ext cx="11339512" cy="46799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095635172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6029617" y="6222097"/>
            <a:ext cx="1441449" cy="2524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3083A4F6-E1C1-49E5-8DE6-E573B77EAFE6}" type="datetime1">
              <a:rPr lang="fr-FR"/>
              <a:t>24/06/2022</a:t>
            </a:fld>
            <a:endParaRPr lang="fr-FR"/>
          </a:p>
        </p:txBody>
      </p:sp>
      <p:sp>
        <p:nvSpPr>
          <p:cNvPr id="2058803735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1365542" y="6222097"/>
            <a:ext cx="4498975" cy="2524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 cap="none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fr-FR"/>
              <a:t>Titre de la présentation / Date</a:t>
            </a:r>
            <a:endParaRPr lang="fr-FR"/>
          </a:p>
        </p:txBody>
      </p:sp>
      <p:sp>
        <p:nvSpPr>
          <p:cNvPr id="100284216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90892" y="6222097"/>
            <a:ext cx="611188" cy="2524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B0DA0DDE-72AD-412A-BEE9-4613C75B15B4}" type="slidenum">
              <a:rPr lang="fr-FR"/>
              <a:t>‹N°›</a:t>
            </a:fld>
            <a:endParaRPr lang="fr-FR"/>
          </a:p>
        </p:txBody>
      </p:sp>
      <p:cxnSp>
        <p:nvCxnSpPr>
          <p:cNvPr id="1681564021" name="Connecteur droit 7"/>
          <p:cNvCxnSpPr/>
          <p:nvPr/>
        </p:nvCxnSpPr>
        <p:spPr bwMode="auto">
          <a:xfrm>
            <a:off x="1316330" y="6358622"/>
            <a:ext cx="5397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9203002" name="ZoneTexte 8"/>
          <p:cNvSpPr txBox="1"/>
          <p:nvPr userDrawn="1"/>
        </p:nvSpPr>
        <p:spPr bwMode="auto">
          <a:xfrm>
            <a:off x="336550" y="142875"/>
            <a:ext cx="195495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fr-FR">
                <a:solidFill>
                  <a:schemeClr val="accent5"/>
                </a:solidFill>
                <a:latin typeface="Montserrat ExtraBold"/>
              </a:rPr>
              <a:t>i-TEAM</a:t>
            </a:r>
            <a:endParaRPr/>
          </a:p>
          <a:p>
            <a:pPr algn="l">
              <a:defRPr/>
            </a:pPr>
            <a:r>
              <a:rPr lang="fr-FR" sz="700">
                <a:solidFill>
                  <a:schemeClr val="accent5"/>
                </a:solidFill>
              </a:rPr>
              <a:t>Direction des services IT Groupe</a:t>
            </a:r>
            <a:endParaRPr/>
          </a:p>
        </p:txBody>
      </p:sp>
      <p:pic>
        <p:nvPicPr>
          <p:cNvPr id="1332415496" name="Image 9"/>
          <p:cNvPicPr>
            <a:picLocks noChangeAspect="1"/>
          </p:cNvPicPr>
          <p:nvPr userDrawn="1"/>
        </p:nvPicPr>
        <p:blipFill rotWithShape="1">
          <a:blip r:embed="rId14"/>
          <a:stretch/>
        </p:blipFill>
        <p:spPr bwMode="auto">
          <a:xfrm>
            <a:off x="57238" y="5956183"/>
            <a:ext cx="809537" cy="809537"/>
          </a:xfrm>
          <a:prstGeom prst="rect">
            <a:avLst/>
          </a:prstGeom>
        </p:spPr>
      </p:pic>
      <p:pic>
        <p:nvPicPr>
          <p:cNvPr id="983558294" name="Image 1" descr="Une image contenant Police, Graphique, capture d’écran, graphisme&#10;&#10;Description générée automatiquement"/>
          <p:cNvPicPr>
            <a:picLocks noChangeAspect="1"/>
          </p:cNvPicPr>
          <p:nvPr userDrawn="1"/>
        </p:nvPicPr>
        <p:blipFill rotWithShape="1">
          <a:blip r:embed="rId15"/>
          <a:stretch/>
        </p:blipFill>
        <p:spPr bwMode="auto">
          <a:xfrm>
            <a:off x="10003525" y="6270287"/>
            <a:ext cx="754961" cy="204221"/>
          </a:xfrm>
          <a:prstGeom prst="rect">
            <a:avLst/>
          </a:prstGeom>
        </p:spPr>
      </p:pic>
      <p:pic>
        <p:nvPicPr>
          <p:cNvPr id="855163643" name="Picture 2" descr="Logo, company name&#10;&#10;Description automatically generated"/>
          <p:cNvPicPr>
            <a:picLocks noChangeAspect="1"/>
          </p:cNvPicPr>
          <p:nvPr/>
        </p:nvPicPr>
        <p:blipFill rotWithShape="1">
          <a:blip r:embed="rId16"/>
          <a:srcRect l="0" t="0" r="1269" b="2617"/>
          <a:stretch/>
        </p:blipFill>
        <p:spPr bwMode="auto">
          <a:xfrm flipH="0" flipV="0">
            <a:off x="9074103" y="6199986"/>
            <a:ext cx="793350" cy="3448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1" hdr="0" sldNum="1"/>
  <p:txStyles>
    <p:titleStyle>
      <a:lvl1pPr algn="l" rtl="0">
        <a:spcBef>
          <a:spcPts val="0"/>
        </a:spcBef>
        <a:spcAft>
          <a:spcPts val="0"/>
        </a:spcAft>
        <a:defRPr sz="3100" b="1">
          <a:solidFill>
            <a:schemeClr val="tx1"/>
          </a:solidFill>
          <a:latin typeface="+mn-lt"/>
          <a:ea typeface="+mj-ea"/>
          <a:cs typeface="+mj-cs"/>
        </a:defRPr>
      </a:lvl1pPr>
      <a:lvl2pPr algn="l" rtl="0">
        <a:spcBef>
          <a:spcPts val="0"/>
        </a:spcBef>
        <a:spcAft>
          <a:spcPts val="0"/>
        </a:spcAft>
        <a:defRPr sz="3100" b="1">
          <a:solidFill>
            <a:schemeClr val="tx1"/>
          </a:solidFill>
          <a:latin typeface="Montserrat"/>
        </a:defRPr>
      </a:lvl2pPr>
      <a:lvl3pPr algn="l" rtl="0">
        <a:spcBef>
          <a:spcPts val="0"/>
        </a:spcBef>
        <a:spcAft>
          <a:spcPts val="0"/>
        </a:spcAft>
        <a:defRPr sz="3100" b="1">
          <a:solidFill>
            <a:schemeClr val="tx1"/>
          </a:solidFill>
          <a:latin typeface="Montserrat"/>
        </a:defRPr>
      </a:lvl3pPr>
      <a:lvl4pPr algn="l" rtl="0">
        <a:spcBef>
          <a:spcPts val="0"/>
        </a:spcBef>
        <a:spcAft>
          <a:spcPts val="0"/>
        </a:spcAft>
        <a:defRPr sz="3100" b="1">
          <a:solidFill>
            <a:schemeClr val="tx1"/>
          </a:solidFill>
          <a:latin typeface="Montserrat"/>
        </a:defRPr>
      </a:lvl4pPr>
      <a:lvl5pPr algn="l" rtl="0">
        <a:spcBef>
          <a:spcPts val="0"/>
        </a:spcBef>
        <a:spcAft>
          <a:spcPts val="0"/>
        </a:spcAft>
        <a:defRPr sz="3100" b="1">
          <a:solidFill>
            <a:schemeClr val="tx1"/>
          </a:solidFill>
          <a:latin typeface="Montserrat"/>
        </a:defRPr>
      </a:lvl5pPr>
      <a:lvl6pPr marL="457200" algn="l" rtl="0">
        <a:spcBef>
          <a:spcPts val="0"/>
        </a:spcBef>
        <a:spcAft>
          <a:spcPts val="0"/>
        </a:spcAft>
        <a:defRPr sz="3100" b="1">
          <a:solidFill>
            <a:schemeClr val="tx1"/>
          </a:solidFill>
          <a:latin typeface="Montserrat"/>
        </a:defRPr>
      </a:lvl6pPr>
      <a:lvl7pPr marL="914400" algn="l" rtl="0">
        <a:spcBef>
          <a:spcPts val="0"/>
        </a:spcBef>
        <a:spcAft>
          <a:spcPts val="0"/>
        </a:spcAft>
        <a:defRPr sz="3100" b="1">
          <a:solidFill>
            <a:schemeClr val="tx1"/>
          </a:solidFill>
          <a:latin typeface="Montserrat"/>
        </a:defRPr>
      </a:lvl7pPr>
      <a:lvl8pPr marL="1371600" algn="l" rtl="0">
        <a:spcBef>
          <a:spcPts val="0"/>
        </a:spcBef>
        <a:spcAft>
          <a:spcPts val="0"/>
        </a:spcAft>
        <a:defRPr sz="3100" b="1">
          <a:solidFill>
            <a:schemeClr val="tx1"/>
          </a:solidFill>
          <a:latin typeface="Montserrat"/>
        </a:defRPr>
      </a:lvl8pPr>
      <a:lvl9pPr marL="1828800" algn="l" rtl="0">
        <a:spcBef>
          <a:spcPts val="0"/>
        </a:spcBef>
        <a:spcAft>
          <a:spcPts val="0"/>
        </a:spcAft>
        <a:defRPr sz="3100" b="1">
          <a:solidFill>
            <a:schemeClr val="tx1"/>
          </a:solidFill>
          <a:latin typeface="Montserrat"/>
        </a:defRPr>
      </a:lvl9pPr>
    </p:titleStyle>
    <p:bodyStyle>
      <a:lvl1pPr algn="l" rtl="0">
        <a:spcBef>
          <a:spcPts val="1400"/>
        </a:spcBef>
        <a:spcAft>
          <a:spcPts val="700"/>
        </a:spcAft>
        <a:buFont typeface="Arial"/>
        <a:defRPr sz="2300">
          <a:solidFill>
            <a:schemeClr val="tx1"/>
          </a:solidFill>
          <a:latin typeface="+mn-lt"/>
          <a:ea typeface="+mn-ea"/>
          <a:cs typeface="+mn-cs"/>
        </a:defRPr>
      </a:lvl1pPr>
      <a:lvl2pPr algn="l" rtl="0">
        <a:spcBef>
          <a:spcPts val="0"/>
        </a:spcBef>
        <a:spcAft>
          <a:spcPts val="700"/>
        </a:spcAft>
        <a:buFont typeface="Arial"/>
        <a:defRPr sz="1500">
          <a:solidFill>
            <a:schemeClr val="tx1"/>
          </a:solidFill>
          <a:latin typeface="Montserrat SemiBold"/>
          <a:ea typeface="+mn-ea"/>
          <a:cs typeface="+mn-cs"/>
        </a:defRPr>
      </a:lvl2pPr>
      <a:lvl3pPr algn="l" rtl="0">
        <a:spcBef>
          <a:spcPts val="0"/>
        </a:spcBef>
        <a:spcAft>
          <a:spcPts val="700"/>
        </a:spcAft>
        <a:buFont typeface="Arial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79388" indent="-179388" algn="l" rtl="0">
        <a:spcBef>
          <a:spcPts val="0"/>
        </a:spcBef>
        <a:spcAft>
          <a:spcPts val="0"/>
        </a:spcAft>
        <a:buFont typeface="Montserrat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4pPr>
      <a:lvl5pPr marL="358775" indent="-179388" algn="l" rtl="0">
        <a:spcBef>
          <a:spcPts val="0"/>
        </a:spcBef>
        <a:spcAft>
          <a:spcPts val="0"/>
        </a:spcAft>
        <a:buFont typeface="Montserrat"/>
        <a:buChar char="–"/>
        <a:defRPr sz="15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Relationship Id="rId4" Type="http://schemas.openxmlformats.org/officeDocument/2006/relationships/image" Target="../media/image10.pn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786078" name="Titre 5"/>
          <p:cNvSpPr>
            <a:spLocks noGrp="1"/>
          </p:cNvSpPr>
          <p:nvPr>
            <p:ph type="ctrTitle"/>
          </p:nvPr>
        </p:nvSpPr>
        <p:spPr bwMode="auto">
          <a:xfrm>
            <a:off x="866775" y="327025"/>
            <a:ext cx="10980738" cy="3240088"/>
          </a:xfrm>
        </p:spPr>
        <p:txBody>
          <a:bodyPr rtlCol="0"/>
          <a:lstStyle/>
          <a:p>
            <a:pPr>
              <a:spcAft>
                <a:spcPts val="0"/>
              </a:spcAft>
              <a:defRPr/>
            </a:pPr>
            <a:r>
              <a:rPr lang="fr-FR" sz="6000" b="0" i="0" u="none" strike="noStrike" cap="none" spc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Elasticsearch et Java Spring</a:t>
            </a:r>
            <a:endParaRPr/>
          </a:p>
        </p:txBody>
      </p:sp>
      <p:sp>
        <p:nvSpPr>
          <p:cNvPr id="1396500075" name="Sous-titre 18"/>
          <p:cNvSpPr>
            <a:spLocks noGrp="1"/>
          </p:cNvSpPr>
          <p:nvPr>
            <p:ph type="subTitle" idx="1"/>
          </p:nvPr>
        </p:nvSpPr>
        <p:spPr bwMode="auto">
          <a:xfrm>
            <a:off x="866775" y="3582988"/>
            <a:ext cx="10980738" cy="720724"/>
          </a:xfrm>
        </p:spPr>
        <p:txBody>
          <a:bodyPr/>
          <a:lstStyle/>
          <a:p>
            <a:pPr>
              <a:defRPr/>
            </a:pPr>
            <a:r>
              <a:rPr lang="fr-FR" sz="2200" b="0" i="0" u="none" strike="noStrike" cap="none" spc="0">
                <a:solidFill>
                  <a:schemeClr val="tx1"/>
                </a:solidFill>
                <a:latin typeface="Montserrat SemiBold"/>
                <a:ea typeface="Montserrat SemiBold"/>
                <a:cs typeface="Montserrat SemiBold"/>
              </a:rPr>
              <a:t>INDDDID </a:t>
            </a:r>
            <a:r>
              <a:rPr lang="fr-FR" sz="2200" b="0" i="0" u="none" strike="noStrike" cap="none" spc="0">
                <a:solidFill>
                  <a:schemeClr val="tx1"/>
                </a:solidFill>
                <a:latin typeface="Montserrat SemiBold"/>
                <a:ea typeface="Montserrat SemiBold"/>
                <a:cs typeface="Montserrat SemiBold"/>
              </a:rPr>
              <a:t>- Mehr Ambre</a:t>
            </a:r>
            <a:br>
              <a:rPr lang="fr-FR" sz="2200" b="0" i="0" u="none" strike="noStrike" cap="none" spc="0">
                <a:solidFill>
                  <a:schemeClr val="tx1"/>
                </a:solidFill>
                <a:latin typeface="Montserrat SemiBold"/>
                <a:ea typeface="Montserrat SemiBold"/>
                <a:cs typeface="Montserrat SemiBold"/>
              </a:rPr>
            </a:br>
            <a:r>
              <a:rPr lang="fr-FR" sz="2200" b="0" i="0" u="none" strike="noStrike" cap="none" spc="0">
                <a:solidFill>
                  <a:schemeClr val="tx1"/>
                </a:solidFill>
                <a:latin typeface="Montserrat SemiBold"/>
                <a:ea typeface="Montserrat SemiBold"/>
                <a:cs typeface="Montserrat SemiBold"/>
              </a:rPr>
              <a:t>2026-06-18</a:t>
            </a:r>
            <a:endParaRPr lang="fr-FR" sz="2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143281540" name="Espace réservé du pied de page 6"/>
          <p:cNvSpPr txBox="1"/>
          <p:nvPr/>
        </p:nvSpPr>
        <p:spPr bwMode="auto">
          <a:xfrm>
            <a:off x="946150" y="6255808"/>
            <a:ext cx="6478587" cy="2524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1400"/>
              </a:spcBef>
              <a:spcAft>
                <a:spcPts val="700"/>
              </a:spcAft>
              <a:buFont typeface="Arial"/>
              <a:defRPr sz="2300">
                <a:solidFill>
                  <a:schemeClr val="tx1"/>
                </a:solidFill>
                <a:latin typeface="Montserrat"/>
              </a:defRPr>
            </a:lvl1pPr>
            <a:lvl2pPr>
              <a:spcAft>
                <a:spcPts val="700"/>
              </a:spcAft>
              <a:buFont typeface="Arial"/>
              <a:defRPr sz="1500">
                <a:solidFill>
                  <a:schemeClr val="tx1"/>
                </a:solidFill>
                <a:latin typeface="Montserrat SemiBold"/>
              </a:defRPr>
            </a:lvl2pPr>
            <a:lvl3pPr>
              <a:spcAft>
                <a:spcPts val="700"/>
              </a:spcAft>
              <a:buFont typeface="Arial"/>
              <a:defRPr sz="1500">
                <a:solidFill>
                  <a:schemeClr val="tx1"/>
                </a:solidFill>
                <a:latin typeface="Montserrat"/>
              </a:defRPr>
            </a:lvl3pPr>
            <a:lvl4pPr indent="-179388">
              <a:buFont typeface="Montserrat"/>
              <a:buChar char="•"/>
              <a:defRPr sz="1500">
                <a:solidFill>
                  <a:schemeClr val="tx1"/>
                </a:solidFill>
                <a:latin typeface="Montserrat"/>
              </a:defRPr>
            </a:lvl4pPr>
            <a:lvl5pPr indent="-179388">
              <a:buFont typeface="Montserrat"/>
              <a:buChar char="–"/>
              <a:defRPr sz="1500">
                <a:solidFill>
                  <a:schemeClr val="tx1"/>
                </a:solidFill>
                <a:latin typeface="Montserrat"/>
              </a:defRPr>
            </a:lvl5pPr>
            <a:lvl6pPr indent="-179388">
              <a:spcBef>
                <a:spcPts val="0"/>
              </a:spcBef>
              <a:spcAft>
                <a:spcPts val="0"/>
              </a:spcAft>
              <a:buFont typeface="Montserrat"/>
              <a:buChar char="–"/>
              <a:defRPr sz="1500">
                <a:solidFill>
                  <a:schemeClr val="tx1"/>
                </a:solidFill>
                <a:latin typeface="Montserrat"/>
              </a:defRPr>
            </a:lvl6pPr>
            <a:lvl7pPr indent="-179388">
              <a:spcBef>
                <a:spcPts val="0"/>
              </a:spcBef>
              <a:spcAft>
                <a:spcPts val="0"/>
              </a:spcAft>
              <a:buFont typeface="Montserrat"/>
              <a:buChar char="–"/>
              <a:defRPr sz="1500">
                <a:solidFill>
                  <a:schemeClr val="tx1"/>
                </a:solidFill>
                <a:latin typeface="Montserrat"/>
              </a:defRPr>
            </a:lvl7pPr>
            <a:lvl8pPr indent="-179388">
              <a:spcBef>
                <a:spcPts val="0"/>
              </a:spcBef>
              <a:spcAft>
                <a:spcPts val="0"/>
              </a:spcAft>
              <a:buFont typeface="Montserrat"/>
              <a:buChar char="–"/>
              <a:defRPr sz="1500">
                <a:solidFill>
                  <a:schemeClr val="tx1"/>
                </a:solidFill>
                <a:latin typeface="Montserrat"/>
              </a:defRPr>
            </a:lvl8pPr>
            <a:lvl9pPr indent="-179388">
              <a:spcBef>
                <a:spcPts val="0"/>
              </a:spcBef>
              <a:spcAft>
                <a:spcPts val="0"/>
              </a:spcAft>
              <a:buFont typeface="Montserrat"/>
              <a:buChar char="–"/>
              <a:defRPr sz="1500">
                <a:solidFill>
                  <a:schemeClr val="tx1"/>
                </a:solidFill>
                <a:latin typeface="Montserrat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fr-FR" sz="1200" b="1"/>
              <a:t>C0 - Public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673441" name="Espace réservé du pied de page 3"/>
          <p:cNvSpPr>
            <a:spLocks noGrp="1"/>
          </p:cNvSpPr>
          <p:nvPr>
            <p:ph type="ftr" sz="quarter" idx="11"/>
          </p:nvPr>
        </p:nvSpPr>
        <p:spPr bwMode="auto">
          <a:prstGeom prst="rect">
            <a:avLst/>
          </a:prstGeom>
          <a:noFill/>
        </p:spPr>
        <p:txBody>
          <a:bodyPr wrap="square" numCol="1" anchorCtr="0" compatLnSpc="1">
            <a:prstTxWarp prst="textNoShape"/>
          </a:bodyPr>
          <a:lstStyle>
            <a:lvl1pPr>
              <a:defRPr>
                <a:solidFill>
                  <a:schemeClr val="tx1"/>
                </a:solidFill>
                <a:latin typeface="Montserrat"/>
              </a:defRPr>
            </a:lvl1pPr>
            <a:lvl2pPr marL="742950" indent="-285750">
              <a:defRPr>
                <a:solidFill>
                  <a:schemeClr val="tx1"/>
                </a:solidFill>
                <a:latin typeface="Montserrat"/>
              </a:defRPr>
            </a:lvl2pPr>
            <a:lvl3pPr marL="1143000" indent="-228600">
              <a:defRPr>
                <a:solidFill>
                  <a:schemeClr val="tx1"/>
                </a:solidFill>
                <a:latin typeface="Montserrat"/>
              </a:defRPr>
            </a:lvl3pPr>
            <a:lvl4pPr marL="1600200" indent="-228600">
              <a:defRPr>
                <a:solidFill>
                  <a:schemeClr val="tx1"/>
                </a:solidFill>
                <a:latin typeface="Montserrat"/>
              </a:defRPr>
            </a:lvl4pPr>
            <a:lvl5pPr marL="2057400" indent="-228600">
              <a:defRPr>
                <a:solidFill>
                  <a:schemeClr val="tx1"/>
                </a:solidFill>
                <a:latin typeface="Montserrat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Montserrat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Montserrat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Montserrat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Montserrat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Contexte : L’entreprise</a:t>
            </a:r>
            <a:endParaRPr/>
          </a:p>
        </p:txBody>
      </p:sp>
      <p:sp>
        <p:nvSpPr>
          <p:cNvPr id="1145755864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</p:spPr>
        <p:txBody>
          <a:bodyPr wrap="square" numCol="1" anchorCtr="0" compatLnSpc="1">
            <a:prstTxWarp prst="textNoShape"/>
          </a:bodyPr>
          <a:lstStyle>
            <a:lvl1pPr>
              <a:defRPr>
                <a:solidFill>
                  <a:schemeClr val="tx1"/>
                </a:solidFill>
                <a:latin typeface="Montserrat"/>
              </a:defRPr>
            </a:lvl1pPr>
            <a:lvl2pPr marL="742950" indent="-285750">
              <a:defRPr>
                <a:solidFill>
                  <a:schemeClr val="tx1"/>
                </a:solidFill>
                <a:latin typeface="Montserrat"/>
              </a:defRPr>
            </a:lvl2pPr>
            <a:lvl3pPr marL="1143000" indent="-228600">
              <a:defRPr>
                <a:solidFill>
                  <a:schemeClr val="tx1"/>
                </a:solidFill>
                <a:latin typeface="Montserrat"/>
              </a:defRPr>
            </a:lvl3pPr>
            <a:lvl4pPr marL="1600200" indent="-228600">
              <a:defRPr>
                <a:solidFill>
                  <a:schemeClr val="tx1"/>
                </a:solidFill>
                <a:latin typeface="Montserrat"/>
              </a:defRPr>
            </a:lvl4pPr>
            <a:lvl5pPr marL="2057400" indent="-228600">
              <a:defRPr>
                <a:solidFill>
                  <a:schemeClr val="tx1"/>
                </a:solidFill>
                <a:latin typeface="Montserrat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Montserrat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Montserrat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Montserrat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Montserrat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fld id="{FB104B95-034F-13FA-F296-BCA87D7BC02E}" type="slidenum">
              <a:rPr lang="fr-FR"/>
              <a:t>4</a:t>
            </a:fld>
            <a:endParaRPr lang="fr-FR"/>
          </a:p>
        </p:txBody>
      </p:sp>
      <p:sp>
        <p:nvSpPr>
          <p:cNvPr id="2035808995" name="Titr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L’entreprise</a:t>
            </a:r>
            <a:endParaRPr/>
          </a:p>
        </p:txBody>
      </p:sp>
      <p:pic>
        <p:nvPicPr>
          <p:cNvPr id="53525802" name="Image 30"/>
          <p:cNvPicPr>
            <a:picLocks noChangeAspect="1"/>
          </p:cNvPicPr>
          <p:nvPr/>
        </p:nvPicPr>
        <p:blipFill rotWithShape="1">
          <a:blip r:embed="rId3"/>
          <a:srcRect l="9865" t="16578" r="9893" b="15941"/>
          <a:stretch/>
        </p:blipFill>
        <p:spPr bwMode="auto">
          <a:xfrm>
            <a:off x="10198032" y="2293558"/>
            <a:ext cx="1403577" cy="704850"/>
          </a:xfrm>
          <a:prstGeom prst="rect">
            <a:avLst/>
          </a:prstGeom>
        </p:spPr>
      </p:pic>
      <p:pic>
        <p:nvPicPr>
          <p:cNvPr id="872725797" name="Image 31"/>
          <p:cNvPicPr>
            <a:picLocks noChangeAspect="1"/>
          </p:cNvPicPr>
          <p:nvPr/>
        </p:nvPicPr>
        <p:blipFill rotWithShape="1">
          <a:blip r:embed="rId4"/>
          <a:srcRect l="21465" t="20509" r="26906" b="18498"/>
          <a:stretch/>
        </p:blipFill>
        <p:spPr bwMode="auto">
          <a:xfrm>
            <a:off x="2866037" y="3323092"/>
            <a:ext cx="1130904" cy="798285"/>
          </a:xfrm>
          <a:prstGeom prst="rect">
            <a:avLst/>
          </a:prstGeom>
        </p:spPr>
      </p:pic>
      <p:pic>
        <p:nvPicPr>
          <p:cNvPr id="1852465035" name="Image 32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543765" y="1558591"/>
            <a:ext cx="1276608" cy="2175991"/>
          </a:xfrm>
          <a:prstGeom prst="rect">
            <a:avLst/>
          </a:prstGeom>
        </p:spPr>
      </p:pic>
      <p:pic>
        <p:nvPicPr>
          <p:cNvPr id="1950392982" name="Image 33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854923" y="1636924"/>
            <a:ext cx="1158594" cy="1873593"/>
          </a:xfrm>
          <a:prstGeom prst="rect">
            <a:avLst/>
          </a:prstGeom>
          <a:ln w="38100">
            <a:noFill/>
          </a:ln>
        </p:spPr>
      </p:pic>
      <p:pic>
        <p:nvPicPr>
          <p:cNvPr id="918564143" name="Image 34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3237426" y="283893"/>
            <a:ext cx="5629834" cy="1521576"/>
          </a:xfrm>
          <a:prstGeom prst="rect">
            <a:avLst/>
          </a:prstGeom>
        </p:spPr>
      </p:pic>
      <p:pic>
        <p:nvPicPr>
          <p:cNvPr id="1305565699" name="Image 35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5493443" y="4658011"/>
            <a:ext cx="3373817" cy="783207"/>
          </a:xfrm>
          <a:prstGeom prst="rect">
            <a:avLst/>
          </a:prstGeom>
        </p:spPr>
      </p:pic>
      <p:cxnSp>
        <p:nvCxnSpPr>
          <p:cNvPr id="734667729" name="Connecteur en angle 36"/>
          <p:cNvCxnSpPr>
            <a:stCxn id="1989449241" idx="2"/>
            <a:endCxn id="1305565699" idx="0"/>
          </p:cNvCxnSpPr>
          <p:nvPr/>
        </p:nvCxnSpPr>
        <p:spPr bwMode="auto">
          <a:xfrm rot="5400000">
            <a:off x="6719052" y="4194994"/>
            <a:ext cx="924318" cy="1716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31382809" name="Image 37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988493" y="4536357"/>
            <a:ext cx="912620" cy="913586"/>
          </a:xfrm>
          <a:prstGeom prst="rect">
            <a:avLst/>
          </a:prstGeom>
        </p:spPr>
      </p:pic>
      <p:pic>
        <p:nvPicPr>
          <p:cNvPr id="1642788023" name="Image 38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988493" y="3544743"/>
            <a:ext cx="910455" cy="910455"/>
          </a:xfrm>
          <a:prstGeom prst="rect">
            <a:avLst/>
          </a:prstGeom>
        </p:spPr>
      </p:pic>
      <p:pic>
        <p:nvPicPr>
          <p:cNvPr id="2131931689" name="Image 39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10249098" y="4570246"/>
            <a:ext cx="1301442" cy="578772"/>
          </a:xfrm>
          <a:prstGeom prst="rect">
            <a:avLst/>
          </a:prstGeom>
        </p:spPr>
      </p:pic>
      <p:sp>
        <p:nvSpPr>
          <p:cNvPr id="1039469221" name="Rectangle 40"/>
          <p:cNvSpPr/>
          <p:nvPr/>
        </p:nvSpPr>
        <p:spPr bwMode="auto">
          <a:xfrm>
            <a:off x="2608085" y="1558591"/>
            <a:ext cx="1646807" cy="4047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422559982" name="Rectangle 41"/>
          <p:cNvSpPr/>
          <p:nvPr/>
        </p:nvSpPr>
        <p:spPr bwMode="auto">
          <a:xfrm>
            <a:off x="10109246" y="1558591"/>
            <a:ext cx="1581149" cy="4047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854947293" name="Rectangle 42"/>
          <p:cNvSpPr/>
          <p:nvPr/>
        </p:nvSpPr>
        <p:spPr bwMode="auto">
          <a:xfrm>
            <a:off x="643647" y="1558591"/>
            <a:ext cx="1581149" cy="4047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89449241" name="Rectangle 43"/>
          <p:cNvSpPr/>
          <p:nvPr/>
        </p:nvSpPr>
        <p:spPr bwMode="auto">
          <a:xfrm>
            <a:off x="4817273" y="1558591"/>
            <a:ext cx="4729591" cy="21751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947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54947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392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50392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788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42788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38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31382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72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72725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46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3946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25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525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93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3193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559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22559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465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52465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944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89449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56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05565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667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34667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9469221" grpId="0" animBg="1"/>
      <p:bldP spid="422559982" grpId="0" animBg="1"/>
      <p:bldP spid="1854947293" grpId="0" animBg="1"/>
      <p:bldP spid="198944924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551952" name="Espace réservé du contenu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Objectifs :</a:t>
            </a:r>
            <a:endParaRPr/>
          </a:p>
          <a:p>
            <a:pPr marL="471123" indent="-471123">
              <a:buFont typeface="Arial"/>
              <a:buChar char="–"/>
              <a:defRPr/>
            </a:pPr>
            <a:r>
              <a:rPr/>
              <a:t>Requêter des BDD Elasticsearch </a:t>
            </a:r>
            <a:br>
              <a:rPr/>
            </a:br>
            <a:r>
              <a:rPr/>
              <a:t>depuis une application Java Spring</a:t>
            </a:r>
            <a:endParaRPr/>
          </a:p>
          <a:p>
            <a:pPr marL="471123" indent="-471123">
              <a:buFont typeface="Arial"/>
              <a:buChar char="–"/>
              <a:defRPr/>
            </a:pPr>
            <a:r>
              <a:rPr/>
              <a:t>Récupérer uniquement les champs voulus</a:t>
            </a:r>
            <a:endParaRPr/>
          </a:p>
          <a:p>
            <a:pPr marL="471123" indent="-471123">
              <a:buFont typeface="Arial"/>
              <a:buChar char="–"/>
              <a:defRPr/>
            </a:pPr>
            <a:r>
              <a:rPr/>
              <a:t>Connecter différentes BDD Elasticsearch</a:t>
            </a:r>
            <a:endParaRPr/>
          </a:p>
        </p:txBody>
      </p:sp>
      <p:sp>
        <p:nvSpPr>
          <p:cNvPr id="1129705604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Objectifs</a:t>
            </a:r>
            <a:endParaRPr lang="fr-FR"/>
          </a:p>
        </p:txBody>
      </p:sp>
      <p:sp>
        <p:nvSpPr>
          <p:cNvPr id="861602300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5BC191-FF3E-0D10-0648-9B20316DF020}" type="slidenum">
              <a:rPr lang="fr-FR"/>
              <a:t>&lt;#&gt;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0470161" name="Espace réservé du numéro de diapositive 4"/>
          <p:cNvSpPr>
            <a:spLocks noGrp="1"/>
          </p:cNvSpPr>
          <p:nvPr>
            <p:ph type="sldNum" sz="quarter" idx="10"/>
          </p:nvPr>
        </p:nvSpPr>
        <p:spPr bwMode="auto">
          <a:prstGeom prst="rect">
            <a:avLst/>
          </a:prstGeom>
          <a:noFill/>
        </p:spPr>
        <p:txBody>
          <a:bodyPr wrap="square" numCol="1" anchorCtr="0" compatLnSpc="1">
            <a:prstTxWarp prst="textNoShape"/>
          </a:bodyPr>
          <a:lstStyle>
            <a:lvl1pPr>
              <a:defRPr>
                <a:solidFill>
                  <a:schemeClr val="tx1"/>
                </a:solidFill>
                <a:latin typeface="Montserrat"/>
              </a:defRPr>
            </a:lvl1pPr>
            <a:lvl2pPr marL="742950" indent="-285750">
              <a:defRPr>
                <a:solidFill>
                  <a:schemeClr val="tx1"/>
                </a:solidFill>
                <a:latin typeface="Montserrat"/>
              </a:defRPr>
            </a:lvl2pPr>
            <a:lvl3pPr marL="1143000" indent="-228600">
              <a:defRPr>
                <a:solidFill>
                  <a:schemeClr val="tx1"/>
                </a:solidFill>
                <a:latin typeface="Montserrat"/>
              </a:defRPr>
            </a:lvl3pPr>
            <a:lvl4pPr marL="1600200" indent="-228600">
              <a:defRPr>
                <a:solidFill>
                  <a:schemeClr val="tx1"/>
                </a:solidFill>
                <a:latin typeface="Montserrat"/>
              </a:defRPr>
            </a:lvl4pPr>
            <a:lvl5pPr marL="2057400" indent="-228600">
              <a:defRPr>
                <a:solidFill>
                  <a:schemeClr val="tx1"/>
                </a:solidFill>
                <a:latin typeface="Montserrat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Montserrat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Montserrat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Montserrat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Montserrat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fld id="{3FA1071F-BE31-4FE3-9C23-A533BEE997C0}" type="slidenum">
              <a:rPr lang="fr-FR"/>
              <a:t>2</a:t>
            </a:fld>
            <a:endParaRPr lang="fr-FR"/>
          </a:p>
        </p:txBody>
      </p:sp>
      <p:sp>
        <p:nvSpPr>
          <p:cNvPr id="109164165" name="Titre 5"/>
          <p:cNvSpPr>
            <a:spLocks noGrp="1"/>
          </p:cNvSpPr>
          <p:nvPr>
            <p:ph type="title"/>
          </p:nvPr>
        </p:nvSpPr>
        <p:spPr bwMode="auto">
          <a:xfrm>
            <a:off x="515937" y="662565"/>
            <a:ext cx="11160125" cy="1798637"/>
          </a:xfrm>
        </p:spPr>
        <p:txBody>
          <a:bodyPr rtlCol="0"/>
          <a:lstStyle/>
          <a:p>
            <a:pPr>
              <a:spcAft>
                <a:spcPts val="0"/>
              </a:spcAft>
              <a:defRPr/>
            </a:pPr>
            <a:r>
              <a:rPr lang="fr-FR"/>
              <a:t>Pourquoi faire ?</a:t>
            </a:r>
            <a:endParaRPr/>
          </a:p>
        </p:txBody>
      </p:sp>
      <p:sp>
        <p:nvSpPr>
          <p:cNvPr id="1925637717" name="Sous-titre 18"/>
          <p:cNvSpPr>
            <a:spLocks noGrp="1"/>
          </p:cNvSpPr>
          <p:nvPr>
            <p:ph type="body" idx="1"/>
          </p:nvPr>
        </p:nvSpPr>
        <p:spPr bwMode="auto">
          <a:xfrm rot="20680358" flipH="0" flipV="0">
            <a:off x="128881" y="4230764"/>
            <a:ext cx="7273636" cy="379845"/>
          </a:xfrm>
        </p:spPr>
        <p:txBody>
          <a:bodyPr/>
          <a:lstStyle/>
          <a:p>
            <a:pPr algn="ctr">
              <a:defRPr/>
            </a:pPr>
            <a:r>
              <a:rPr sz="2000"/>
              <a:t>« Nos applications n’ont pas besoin de différentes BDD »</a:t>
            </a:r>
            <a:endParaRPr sz="2000"/>
          </a:p>
        </p:txBody>
      </p:sp>
      <p:sp>
        <p:nvSpPr>
          <p:cNvPr id="2145248047" name="Espace réservé du pied de page 3"/>
          <p:cNvSpPr>
            <a:spLocks noGrp="1"/>
          </p:cNvSpPr>
          <p:nvPr>
            <p:ph type="ftr" sz="quarter" idx="12"/>
          </p:nvPr>
        </p:nvSpPr>
        <p:spPr bwMode="auto">
          <a:prstGeom prst="rect">
            <a:avLst/>
          </a:prstGeom>
          <a:noFill/>
        </p:spPr>
        <p:txBody>
          <a:bodyPr wrap="square" numCol="1" anchorCtr="0" compatLnSpc="1">
            <a:prstTxWarp prst="textNoShape"/>
          </a:bodyPr>
          <a:lstStyle>
            <a:lvl1pPr>
              <a:defRPr>
                <a:solidFill>
                  <a:schemeClr val="tx1"/>
                </a:solidFill>
                <a:latin typeface="Montserrat"/>
              </a:defRPr>
            </a:lvl1pPr>
            <a:lvl2pPr marL="742950" indent="-285750">
              <a:defRPr>
                <a:solidFill>
                  <a:schemeClr val="tx1"/>
                </a:solidFill>
                <a:latin typeface="Montserrat"/>
              </a:defRPr>
            </a:lvl2pPr>
            <a:lvl3pPr marL="1143000" indent="-228600">
              <a:defRPr>
                <a:solidFill>
                  <a:schemeClr val="tx1"/>
                </a:solidFill>
                <a:latin typeface="Montserrat"/>
              </a:defRPr>
            </a:lvl3pPr>
            <a:lvl4pPr marL="1600200" indent="-228600">
              <a:defRPr>
                <a:solidFill>
                  <a:schemeClr val="tx1"/>
                </a:solidFill>
                <a:latin typeface="Montserrat"/>
              </a:defRPr>
            </a:lvl4pPr>
            <a:lvl5pPr marL="2057400" indent="-228600">
              <a:defRPr>
                <a:solidFill>
                  <a:schemeClr val="tx1"/>
                </a:solidFill>
                <a:latin typeface="Montserrat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Montserrat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Montserrat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Montserrat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Montserrat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489109981" name=""/>
          <p:cNvSpPr txBox="1"/>
          <p:nvPr/>
        </p:nvSpPr>
        <p:spPr bwMode="auto">
          <a:xfrm rot="0" flipH="0" flipV="0">
            <a:off x="3091851" y="2365650"/>
            <a:ext cx="413110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« Une seule ne suffisait pas ? »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109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891099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89109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89109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637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19256377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25637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925637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898193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Sauvegardes de cluster de BDD</a:t>
            </a:r>
            <a:endParaRPr/>
          </a:p>
        </p:txBody>
      </p:sp>
      <p:sp>
        <p:nvSpPr>
          <p:cNvPr id="974229767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Pourquoi faire ?</a:t>
            </a:r>
            <a:endParaRPr lang="fr-FR"/>
          </a:p>
        </p:txBody>
      </p:sp>
      <p:sp>
        <p:nvSpPr>
          <p:cNvPr id="1028959120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B8E4E8D-5760-04C2-2385-C92970DD414B}" type="slidenum">
              <a:rPr lang="fr-FR"/>
              <a:t>5</a:t>
            </a:fld>
            <a:endParaRPr lang="fr-FR"/>
          </a:p>
        </p:txBody>
      </p:sp>
      <p:grpSp>
        <p:nvGrpSpPr>
          <p:cNvPr id="432686223" name=""/>
          <p:cNvGrpSpPr/>
          <p:nvPr/>
        </p:nvGrpSpPr>
        <p:grpSpPr bwMode="auto">
          <a:xfrm rot="0" flipH="0" flipV="0">
            <a:off x="651956" y="4491342"/>
            <a:ext cx="1091765" cy="1342158"/>
            <a:chOff x="0" y="0"/>
            <a:chExt cx="1091764" cy="1342157"/>
          </a:xfrm>
        </p:grpSpPr>
        <p:pic>
          <p:nvPicPr>
            <p:cNvPr id="1138121688" name="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 flipH="0" flipV="0">
              <a:off x="0" y="0"/>
              <a:ext cx="1091045" cy="1091045"/>
            </a:xfrm>
            <a:prstGeom prst="rect">
              <a:avLst/>
            </a:prstGeom>
          </p:spPr>
        </p:pic>
        <p:sp>
          <p:nvSpPr>
            <p:cNvPr id="433338160" name=""/>
            <p:cNvSpPr txBox="1"/>
            <p:nvPr/>
          </p:nvSpPr>
          <p:spPr bwMode="auto">
            <a:xfrm rot="0" flipH="0" flipV="0">
              <a:off x="0" y="976038"/>
              <a:ext cx="1091765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/>
                <a:t>MySQL</a:t>
              </a:r>
              <a:endParaRPr/>
            </a:p>
          </p:txBody>
        </p:sp>
      </p:grpSp>
      <p:grpSp>
        <p:nvGrpSpPr>
          <p:cNvPr id="429632134" name=""/>
          <p:cNvGrpSpPr/>
          <p:nvPr/>
        </p:nvGrpSpPr>
        <p:grpSpPr bwMode="auto">
          <a:xfrm rot="0" flipH="0" flipV="0">
            <a:off x="3078897" y="4552191"/>
            <a:ext cx="1851577" cy="1300082"/>
            <a:chOff x="0" y="0"/>
            <a:chExt cx="1851576" cy="1300081"/>
          </a:xfrm>
        </p:grpSpPr>
        <p:pic>
          <p:nvPicPr>
            <p:cNvPr id="732471489" name="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 flipH="0" flipV="0">
              <a:off x="440879" y="0"/>
              <a:ext cx="969818" cy="969818"/>
            </a:xfrm>
            <a:prstGeom prst="rect">
              <a:avLst/>
            </a:prstGeom>
          </p:spPr>
        </p:pic>
        <p:sp>
          <p:nvSpPr>
            <p:cNvPr id="2089867165" name=""/>
            <p:cNvSpPr txBox="1"/>
            <p:nvPr/>
          </p:nvSpPr>
          <p:spPr bwMode="auto">
            <a:xfrm rot="0" flipH="0" flipV="0">
              <a:off x="0" y="933962"/>
              <a:ext cx="1851577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/>
                <a:t>MySQL</a:t>
              </a:r>
              <a:r>
                <a:rPr/>
                <a:t> Backup</a:t>
              </a:r>
              <a:endParaRPr/>
            </a:p>
          </p:txBody>
        </p:sp>
      </p:grpSp>
      <p:cxnSp>
        <p:nvCxnSpPr>
          <p:cNvPr id="1600230618" name=""/>
          <p:cNvCxnSpPr>
            <a:stCxn id="1138121688" idx="3"/>
            <a:endCxn id="732471489" idx="1"/>
          </p:cNvCxnSpPr>
          <p:nvPr/>
        </p:nvCxnSpPr>
        <p:spPr bwMode="auto">
          <a:xfrm rot="0" flipH="0" flipV="0">
            <a:off x="1743001" y="5036981"/>
            <a:ext cx="1776775" cy="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solid"/>
            <a:miter lim="800000"/>
            <a:tailEnd type="arrow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12795197" name=""/>
          <p:cNvGrpSpPr/>
          <p:nvPr/>
        </p:nvGrpSpPr>
        <p:grpSpPr bwMode="auto">
          <a:xfrm rot="0" flipH="0" flipV="0">
            <a:off x="474374" y="3043557"/>
            <a:ext cx="1581188" cy="1142999"/>
            <a:chOff x="0" y="0"/>
            <a:chExt cx="1581187" cy="1142998"/>
          </a:xfrm>
        </p:grpSpPr>
        <p:pic>
          <p:nvPicPr>
            <p:cNvPr id="1262833002" name=""/>
            <p:cNvPicPr>
              <a:picLocks noChangeAspect="1"/>
            </p:cNvPicPr>
            <p:nvPr/>
          </p:nvPicPr>
          <p:blipFill rotWithShape="1">
            <a:blip r:embed="rId5"/>
            <a:stretch/>
          </p:blipFill>
          <p:spPr bwMode="auto">
            <a:xfrm flipH="0" flipV="0">
              <a:off x="383616" y="0"/>
              <a:ext cx="813954" cy="813954"/>
            </a:xfrm>
            <a:prstGeom prst="rect">
              <a:avLst/>
            </a:prstGeom>
          </p:spPr>
        </p:pic>
        <p:sp>
          <p:nvSpPr>
            <p:cNvPr id="2127346969" name=""/>
            <p:cNvSpPr txBox="1"/>
            <p:nvPr/>
          </p:nvSpPr>
          <p:spPr bwMode="auto">
            <a:xfrm rot="0" flipH="0" flipV="0">
              <a:off x="0" y="776879"/>
              <a:ext cx="1581188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/>
                <a:t>Elasticsearch</a:t>
              </a:r>
              <a:endParaRPr/>
            </a:p>
          </p:txBody>
        </p:sp>
      </p:grpSp>
      <p:sp>
        <p:nvSpPr>
          <p:cNvPr id="1531511382" name=""/>
          <p:cNvSpPr txBox="1"/>
          <p:nvPr/>
        </p:nvSpPr>
        <p:spPr bwMode="auto">
          <a:xfrm rot="0" flipH="0" flipV="0">
            <a:off x="2971742" y="3268959"/>
            <a:ext cx="1912043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Snapshot interne</a:t>
            </a:r>
            <a:endParaRPr/>
          </a:p>
        </p:txBody>
      </p:sp>
      <p:cxnSp>
        <p:nvCxnSpPr>
          <p:cNvPr id="619820532" name=""/>
          <p:cNvCxnSpPr>
            <a:stCxn id="1262833002" idx="3"/>
            <a:endCxn id="1531511382" idx="1"/>
          </p:cNvCxnSpPr>
          <p:nvPr/>
        </p:nvCxnSpPr>
        <p:spPr bwMode="auto">
          <a:xfrm rot="0" flipH="0" flipV="0">
            <a:off x="1671945" y="3451276"/>
            <a:ext cx="1299797" cy="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solid"/>
            <a:miter lim="800000"/>
            <a:tailEnd type="arrow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535556253" name=""/>
          <p:cNvGrpSpPr/>
          <p:nvPr/>
        </p:nvGrpSpPr>
        <p:grpSpPr bwMode="auto">
          <a:xfrm rot="0" flipH="0" flipV="0">
            <a:off x="3355724" y="1395392"/>
            <a:ext cx="1144080" cy="1343378"/>
            <a:chOff x="0" y="0"/>
            <a:chExt cx="1144080" cy="1343377"/>
          </a:xfrm>
        </p:grpSpPr>
        <p:pic>
          <p:nvPicPr>
            <p:cNvPr id="621035910" name=""/>
            <p:cNvPicPr>
              <a:picLocks noChangeAspect="1"/>
            </p:cNvPicPr>
            <p:nvPr/>
          </p:nvPicPr>
          <p:blipFill rotWithShape="1">
            <a:blip r:embed="rId6"/>
            <a:stretch/>
          </p:blipFill>
          <p:spPr bwMode="auto">
            <a:xfrm>
              <a:off x="0" y="0"/>
              <a:ext cx="1143000" cy="1143000"/>
            </a:xfrm>
            <a:prstGeom prst="rect">
              <a:avLst/>
            </a:prstGeom>
          </p:spPr>
        </p:pic>
        <p:sp>
          <p:nvSpPr>
            <p:cNvPr id="200939379" name=""/>
            <p:cNvSpPr txBox="1"/>
            <p:nvPr/>
          </p:nvSpPr>
          <p:spPr bwMode="auto">
            <a:xfrm rot="0" flipH="0" flipV="0">
              <a:off x="0" y="977258"/>
              <a:ext cx="1144080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/>
                <a:t>Medusa</a:t>
              </a:r>
              <a:endParaRPr/>
            </a:p>
          </p:txBody>
        </p:sp>
      </p:grpSp>
      <p:grpSp>
        <p:nvGrpSpPr>
          <p:cNvPr id="2010095560" name=""/>
          <p:cNvGrpSpPr/>
          <p:nvPr/>
        </p:nvGrpSpPr>
        <p:grpSpPr bwMode="auto">
          <a:xfrm rot="0" flipH="0" flipV="0">
            <a:off x="571790" y="1777763"/>
            <a:ext cx="1335106" cy="953566"/>
            <a:chOff x="0" y="0"/>
            <a:chExt cx="1335105" cy="953565"/>
          </a:xfrm>
        </p:grpSpPr>
        <p:pic>
          <p:nvPicPr>
            <p:cNvPr id="1024347547" name=""/>
            <p:cNvPicPr>
              <a:picLocks noChangeAspect="1"/>
            </p:cNvPicPr>
            <p:nvPr/>
          </p:nvPicPr>
          <p:blipFill rotWithShape="1">
            <a:blip r:embed="rId7"/>
            <a:srcRect l="0" t="16666" r="0" b="35251"/>
            <a:stretch/>
          </p:blipFill>
          <p:spPr bwMode="auto">
            <a:xfrm flipH="0" flipV="0">
              <a:off x="57942" y="0"/>
              <a:ext cx="1219220" cy="586227"/>
            </a:xfrm>
            <a:prstGeom prst="rect">
              <a:avLst/>
            </a:prstGeom>
          </p:spPr>
        </p:pic>
        <p:sp>
          <p:nvSpPr>
            <p:cNvPr id="1896079145" name=""/>
            <p:cNvSpPr txBox="1"/>
            <p:nvPr/>
          </p:nvSpPr>
          <p:spPr bwMode="auto">
            <a:xfrm rot="0" flipH="0" flipV="0">
              <a:off x="0" y="587445"/>
              <a:ext cx="1335106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/>
                <a:t>Cassandra</a:t>
              </a:r>
              <a:endParaRPr/>
            </a:p>
          </p:txBody>
        </p:sp>
      </p:grpSp>
      <p:cxnSp>
        <p:nvCxnSpPr>
          <p:cNvPr id="1143207633" name=""/>
          <p:cNvCxnSpPr>
            <a:stCxn id="1024347547" idx="3"/>
          </p:cNvCxnSpPr>
          <p:nvPr/>
        </p:nvCxnSpPr>
        <p:spPr bwMode="auto">
          <a:xfrm rot="0" flipH="0" flipV="0">
            <a:off x="1848953" y="2073663"/>
            <a:ext cx="1600069" cy="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solid"/>
            <a:miter lim="800000"/>
            <a:tailEnd type="arrow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75725719" name=""/>
          <p:cNvCxnSpPr/>
          <p:nvPr/>
        </p:nvCxnSpPr>
        <p:spPr bwMode="auto">
          <a:xfrm flipH="0" flipV="0">
            <a:off x="4487249" y="2076449"/>
            <a:ext cx="2499503" cy="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solid"/>
            <a:miter lim="800000"/>
            <a:tailEnd type="arrow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79189991" name=""/>
          <p:cNvCxnSpPr/>
          <p:nvPr/>
        </p:nvCxnSpPr>
        <p:spPr bwMode="auto">
          <a:xfrm rot="0" flipH="0" flipV="0">
            <a:off x="4883788" y="3459560"/>
            <a:ext cx="2178925" cy="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solid"/>
            <a:miter lim="800000"/>
            <a:tailEnd type="arrow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55886843" name=""/>
          <p:cNvCxnSpPr/>
          <p:nvPr/>
        </p:nvCxnSpPr>
        <p:spPr bwMode="auto">
          <a:xfrm rot="0" flipH="0" flipV="0">
            <a:off x="4489597" y="5037912"/>
            <a:ext cx="2521776" cy="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solid"/>
            <a:miter lim="800000"/>
            <a:tailEnd type="arrow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18031354" name=""/>
          <p:cNvSpPr txBox="1"/>
          <p:nvPr/>
        </p:nvSpPr>
        <p:spPr bwMode="auto">
          <a:xfrm rot="0" flipH="0" flipV="0">
            <a:off x="7125674" y="1893389"/>
            <a:ext cx="2890398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Backup of the cluster done</a:t>
            </a:r>
            <a:endParaRPr/>
          </a:p>
        </p:txBody>
      </p:sp>
      <p:sp>
        <p:nvSpPr>
          <p:cNvPr id="725170600" name=""/>
          <p:cNvSpPr txBox="1"/>
          <p:nvPr/>
        </p:nvSpPr>
        <p:spPr bwMode="auto">
          <a:xfrm rot="0" flipH="0" flipV="0">
            <a:off x="7125674" y="3276500"/>
            <a:ext cx="421220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Snapshot finished in status SUCCESS</a:t>
            </a:r>
            <a:endParaRPr/>
          </a:p>
        </p:txBody>
      </p:sp>
      <p:sp>
        <p:nvSpPr>
          <p:cNvPr id="190176155" name=""/>
          <p:cNvSpPr txBox="1"/>
          <p:nvPr/>
        </p:nvSpPr>
        <p:spPr bwMode="auto">
          <a:xfrm rot="0" flipH="0" flipV="0">
            <a:off x="7125674" y="4853804"/>
            <a:ext cx="485921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Full backup operation completed successfully</a:t>
            </a:r>
            <a:endParaRPr/>
          </a:p>
        </p:txBody>
      </p:sp>
      <p:sp>
        <p:nvSpPr>
          <p:cNvPr id="336031073" name=""/>
          <p:cNvSpPr txBox="1"/>
          <p:nvPr/>
        </p:nvSpPr>
        <p:spPr bwMode="auto">
          <a:xfrm rot="0" flipH="0" flipV="0">
            <a:off x="7887674" y="1118988"/>
            <a:ext cx="844541" cy="4575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/>
              <a:t>Logs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0095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10095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10095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95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12795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12795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686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32686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32686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207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143207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6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35556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82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19820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51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3151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230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00230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63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29632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72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75725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18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79189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886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55886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3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603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03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18031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17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725170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7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19017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54834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Remontée des sauvegardes de clusters de BDD</a:t>
            </a:r>
            <a:endParaRPr/>
          </a:p>
        </p:txBody>
      </p:sp>
      <p:sp>
        <p:nvSpPr>
          <p:cNvPr id="6682078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1200" b="1" i="0" u="none" strike="noStrike" cap="none" spc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Pourquoi faire ?</a:t>
            </a:r>
            <a:endParaRPr sz="1200"/>
          </a:p>
        </p:txBody>
      </p:sp>
      <p:sp>
        <p:nvSpPr>
          <p:cNvPr id="1997795677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76A4443-1F19-3287-146D-780AA994E642}" type="slidenum">
              <a:rPr lang="fr-FR"/>
              <a:t>14</a:t>
            </a:fld>
            <a:endParaRPr lang="fr-FR"/>
          </a:p>
        </p:txBody>
      </p:sp>
      <p:sp>
        <p:nvSpPr>
          <p:cNvPr id="122502156" name="Octogone 5"/>
          <p:cNvSpPr/>
          <p:nvPr/>
        </p:nvSpPr>
        <p:spPr bwMode="auto">
          <a:xfrm>
            <a:off x="4049821" y="2749061"/>
            <a:ext cx="1359875" cy="1359875"/>
          </a:xfrm>
          <a:prstGeom prst="octagon">
            <a:avLst>
              <a:gd name="adj" fmla="val 29289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/>
              <a:t>Spring</a:t>
            </a:r>
            <a:endParaRPr/>
          </a:p>
        </p:txBody>
      </p:sp>
      <p:grpSp>
        <p:nvGrpSpPr>
          <p:cNvPr id="1836760627" name="Groupe 14"/>
          <p:cNvGrpSpPr/>
          <p:nvPr/>
        </p:nvGrpSpPr>
        <p:grpSpPr bwMode="auto">
          <a:xfrm rot="0" flipH="0" flipV="0">
            <a:off x="382587" y="1687917"/>
            <a:ext cx="2930767" cy="821592"/>
            <a:chOff x="0" y="0"/>
            <a:chExt cx="2930766" cy="821592"/>
          </a:xfrm>
        </p:grpSpPr>
        <p:sp>
          <p:nvSpPr>
            <p:cNvPr id="1779204071" name="Cylindre 6"/>
            <p:cNvSpPr/>
            <p:nvPr/>
          </p:nvSpPr>
          <p:spPr bwMode="auto">
            <a:xfrm>
              <a:off x="2109177" y="0"/>
              <a:ext cx="821590" cy="821592"/>
            </a:xfrm>
            <a:prstGeom prst="can">
              <a:avLst>
                <a:gd name="adj" fmla="val 25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343048205" name="ZoneTexte 10"/>
            <p:cNvSpPr txBox="1"/>
            <p:nvPr/>
          </p:nvSpPr>
          <p:spPr bwMode="auto">
            <a:xfrm>
              <a:off x="0" y="226129"/>
              <a:ext cx="2110257" cy="366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fr-FR">
                  <a:solidFill>
                    <a:schemeClr val="accent5"/>
                  </a:solidFill>
                </a:rPr>
                <a:t>ELK DC1 PROD</a:t>
              </a:r>
              <a:endParaRPr/>
            </a:p>
          </p:txBody>
        </p:sp>
      </p:grpSp>
      <p:grpSp>
        <p:nvGrpSpPr>
          <p:cNvPr id="431932173" name="Groupe 15"/>
          <p:cNvGrpSpPr/>
          <p:nvPr/>
        </p:nvGrpSpPr>
        <p:grpSpPr bwMode="auto">
          <a:xfrm rot="0" flipH="0" flipV="0">
            <a:off x="382586" y="2573251"/>
            <a:ext cx="2930769" cy="821592"/>
            <a:chOff x="0" y="0"/>
            <a:chExt cx="2930769" cy="821592"/>
          </a:xfrm>
        </p:grpSpPr>
        <p:sp>
          <p:nvSpPr>
            <p:cNvPr id="999947453" name="Cylindre 7"/>
            <p:cNvSpPr/>
            <p:nvPr/>
          </p:nvSpPr>
          <p:spPr bwMode="auto">
            <a:xfrm>
              <a:off x="2109177" y="0"/>
              <a:ext cx="821590" cy="821592"/>
            </a:xfrm>
            <a:prstGeom prst="can">
              <a:avLst>
                <a:gd name="adj" fmla="val 25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719222455" name="ZoneTexte 11"/>
            <p:cNvSpPr txBox="1"/>
            <p:nvPr/>
          </p:nvSpPr>
          <p:spPr bwMode="auto">
            <a:xfrm>
              <a:off x="0" y="227355"/>
              <a:ext cx="2110617" cy="366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fr-FR">
                  <a:solidFill>
                    <a:schemeClr val="accent5"/>
                  </a:solidFill>
                </a:rPr>
                <a:t>ELK DC1 BUILD</a:t>
              </a:r>
              <a:endParaRPr/>
            </a:p>
          </p:txBody>
        </p:sp>
      </p:grpSp>
      <p:grpSp>
        <p:nvGrpSpPr>
          <p:cNvPr id="2042922119" name="Groupe 16"/>
          <p:cNvGrpSpPr/>
          <p:nvPr/>
        </p:nvGrpSpPr>
        <p:grpSpPr bwMode="auto">
          <a:xfrm rot="0" flipH="0" flipV="0">
            <a:off x="382586" y="3458586"/>
            <a:ext cx="2930769" cy="821592"/>
            <a:chOff x="0" y="0"/>
            <a:chExt cx="2930769" cy="821592"/>
          </a:xfrm>
        </p:grpSpPr>
        <p:sp>
          <p:nvSpPr>
            <p:cNvPr id="814152145" name="Cylindre 8"/>
            <p:cNvSpPr/>
            <p:nvPr/>
          </p:nvSpPr>
          <p:spPr bwMode="auto">
            <a:xfrm>
              <a:off x="2109178" y="0"/>
              <a:ext cx="821590" cy="821592"/>
            </a:xfrm>
            <a:prstGeom prst="can">
              <a:avLst>
                <a:gd name="adj" fmla="val 25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567395104" name="ZoneTexte 12"/>
            <p:cNvSpPr txBox="1"/>
            <p:nvPr/>
          </p:nvSpPr>
          <p:spPr bwMode="auto">
            <a:xfrm>
              <a:off x="0" y="226129"/>
              <a:ext cx="2111337" cy="366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fr-FR">
                  <a:solidFill>
                    <a:schemeClr val="accent5"/>
                  </a:solidFill>
                </a:rPr>
                <a:t>ELK DC2 PROD</a:t>
              </a:r>
              <a:endParaRPr/>
            </a:p>
          </p:txBody>
        </p:sp>
      </p:grpSp>
      <p:grpSp>
        <p:nvGrpSpPr>
          <p:cNvPr id="339214856" name="Groupe 17"/>
          <p:cNvGrpSpPr/>
          <p:nvPr/>
        </p:nvGrpSpPr>
        <p:grpSpPr bwMode="auto">
          <a:xfrm rot="0" flipH="0" flipV="0">
            <a:off x="382586" y="4343922"/>
            <a:ext cx="2930769" cy="821592"/>
            <a:chOff x="0" y="0"/>
            <a:chExt cx="2930769" cy="821592"/>
          </a:xfrm>
        </p:grpSpPr>
        <p:sp>
          <p:nvSpPr>
            <p:cNvPr id="1767345465" name="Cylindre 9"/>
            <p:cNvSpPr/>
            <p:nvPr/>
          </p:nvSpPr>
          <p:spPr bwMode="auto">
            <a:xfrm>
              <a:off x="2109178" y="0"/>
              <a:ext cx="821590" cy="821592"/>
            </a:xfrm>
            <a:prstGeom prst="can">
              <a:avLst>
                <a:gd name="adj" fmla="val 25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167217623" name="ZoneTexte 13"/>
            <p:cNvSpPr txBox="1"/>
            <p:nvPr/>
          </p:nvSpPr>
          <p:spPr bwMode="auto">
            <a:xfrm>
              <a:off x="0" y="224903"/>
              <a:ext cx="2110617" cy="366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fr-FR">
                  <a:solidFill>
                    <a:schemeClr val="accent5"/>
                  </a:solidFill>
                </a:rPr>
                <a:t>ELK DC2 BUILD</a:t>
              </a:r>
              <a:endParaRPr/>
            </a:p>
          </p:txBody>
        </p:sp>
      </p:grpSp>
      <p:cxnSp>
        <p:nvCxnSpPr>
          <p:cNvPr id="1427874931" name="Connecteur droit avec flèche 19"/>
          <p:cNvCxnSpPr>
            <a:stCxn id="122502156" idx="6"/>
            <a:endCxn id="1779204071" idx="4"/>
          </p:cNvCxnSpPr>
          <p:nvPr/>
        </p:nvCxnSpPr>
        <p:spPr bwMode="auto">
          <a:xfrm rot="16199998" flipH="0" flipV="1">
            <a:off x="3555563" y="1856509"/>
            <a:ext cx="650346" cy="113475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1592983" name="Connecteur droit avec flèche 21"/>
          <p:cNvCxnSpPr>
            <a:stCxn id="122502156" idx="5"/>
            <a:endCxn id="999947453" idx="4"/>
          </p:cNvCxnSpPr>
          <p:nvPr/>
        </p:nvCxnSpPr>
        <p:spPr bwMode="auto">
          <a:xfrm rot="10800000" flipH="0" flipV="0">
            <a:off x="3313357" y="2984049"/>
            <a:ext cx="736463" cy="16330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3410171" name="Connecteur droit avec flèche 23"/>
          <p:cNvCxnSpPr>
            <a:stCxn id="122502156" idx="4"/>
            <a:endCxn id="814152145" idx="4"/>
          </p:cNvCxnSpPr>
          <p:nvPr/>
        </p:nvCxnSpPr>
        <p:spPr bwMode="auto">
          <a:xfrm rot="10800000" flipH="0" flipV="1">
            <a:off x="3313359" y="3710642"/>
            <a:ext cx="736462" cy="1587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0191132" name="Connecteur droit avec flèche 25"/>
          <p:cNvCxnSpPr>
            <a:stCxn id="122502156" idx="3"/>
            <a:endCxn id="1767345465" idx="4"/>
          </p:cNvCxnSpPr>
          <p:nvPr/>
        </p:nvCxnSpPr>
        <p:spPr bwMode="auto">
          <a:xfrm rot="5400000" flipH="0" flipV="0">
            <a:off x="3557845" y="3864449"/>
            <a:ext cx="645781" cy="113475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4082136" name="ZoneTexte 28"/>
          <p:cNvSpPr txBox="1"/>
          <p:nvPr/>
        </p:nvSpPr>
        <p:spPr bwMode="auto">
          <a:xfrm flipH="0" flipV="0">
            <a:off x="5864457" y="3106085"/>
            <a:ext cx="5543534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/>
              <a:t>ElasticSearch - </a:t>
            </a:r>
            <a:r>
              <a:rPr lang="fr-FR">
                <a:latin typeface="Cascadia Mono"/>
                <a:ea typeface="Cascadia Mono"/>
                <a:cs typeface="Cascadia Mono"/>
              </a:rPr>
              <a:t>message LIKE</a:t>
            </a:r>
            <a:endParaRPr lang="fr-FR">
              <a:latin typeface="Cascadia Mono"/>
              <a:ea typeface="Cascadia Mono"/>
              <a:cs typeface="Cascadia Mono"/>
            </a:endParaRPr>
          </a:p>
          <a:p>
            <a:pPr>
              <a:defRPr/>
            </a:pPr>
            <a:r>
              <a:rPr lang="fr-FR">
                <a:latin typeface="Cascadia Mono"/>
                <a:ea typeface="Cascadia Mono"/>
                <a:cs typeface="Cascadia Mono"/>
              </a:rPr>
              <a:t>"*snapshot*SUCCESS*"</a:t>
            </a:r>
            <a:endParaRPr/>
          </a:p>
        </p:txBody>
      </p:sp>
      <p:sp>
        <p:nvSpPr>
          <p:cNvPr id="1713756756" name="ZoneTexte 30"/>
          <p:cNvSpPr txBox="1"/>
          <p:nvPr/>
        </p:nvSpPr>
        <p:spPr bwMode="auto">
          <a:xfrm flipH="0" flipV="0">
            <a:off x="5864516" y="3757455"/>
            <a:ext cx="5543114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/>
              <a:t>Cassandra - </a:t>
            </a:r>
            <a:r>
              <a:rPr lang="fr-FR">
                <a:latin typeface="Cascadia Mono"/>
                <a:ea typeface="Cascadia Mono"/>
                <a:cs typeface="Cascadia Mono"/>
              </a:rPr>
              <a:t>message LIKE </a:t>
            </a:r>
            <a:endParaRPr lang="fr-FR">
              <a:latin typeface="Cascadia Mono"/>
              <a:ea typeface="Cascadia Mono"/>
              <a:cs typeface="Cascadia Mono"/>
            </a:endParaRPr>
          </a:p>
          <a:p>
            <a:pPr>
              <a:defRPr/>
            </a:pPr>
            <a:r>
              <a:rPr lang="fr-FR">
                <a:latin typeface="Cascadia Mono"/>
                <a:ea typeface="Cascadia Mono"/>
                <a:cs typeface="Cascadia Mono"/>
              </a:rPr>
              <a:t>"*Backup of the cluster </a:t>
            </a:r>
            <a:r>
              <a:rPr lang="fr-FR">
                <a:latin typeface="Cascadia Mono"/>
                <a:ea typeface="Cascadia Mono"/>
                <a:cs typeface="Cascadia Mono"/>
              </a:rPr>
              <a:t>done</a:t>
            </a:r>
            <a:r>
              <a:rPr lang="fr-FR">
                <a:latin typeface="Cascadia Mono"/>
                <a:ea typeface="Cascadia Mono"/>
                <a:cs typeface="Cascadia Mono"/>
              </a:rPr>
              <a:t>*"</a:t>
            </a:r>
            <a:endParaRPr/>
          </a:p>
        </p:txBody>
      </p:sp>
      <p:sp>
        <p:nvSpPr>
          <p:cNvPr id="456289915" name="ZoneTexte 32"/>
          <p:cNvSpPr txBox="1"/>
          <p:nvPr/>
        </p:nvSpPr>
        <p:spPr bwMode="auto">
          <a:xfrm flipH="0" flipV="0">
            <a:off x="5864401" y="2453892"/>
            <a:ext cx="5543953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/>
              <a:t>MySQL - </a:t>
            </a:r>
            <a:r>
              <a:rPr lang="fr-FR">
                <a:latin typeface="Cascadia Mono"/>
                <a:ea typeface="Cascadia Mono"/>
                <a:cs typeface="Cascadia Mono"/>
              </a:rPr>
              <a:t>message LIKE </a:t>
            </a:r>
            <a:endParaRPr lang="fr-FR">
              <a:latin typeface="Cascadia Mono"/>
              <a:ea typeface="Cascadia Mono"/>
              <a:cs typeface="Cascadia Mono"/>
            </a:endParaRPr>
          </a:p>
          <a:p>
            <a:pPr>
              <a:defRPr/>
            </a:pPr>
            <a:r>
              <a:rPr lang="fr-FR">
                <a:latin typeface="Cascadia Mono"/>
                <a:ea typeface="Cascadia Mono"/>
                <a:cs typeface="Cascadia Mono"/>
              </a:rPr>
              <a:t>"*Full backup </a:t>
            </a:r>
            <a:r>
              <a:rPr lang="fr-FR">
                <a:latin typeface="Cascadia Mono"/>
                <a:ea typeface="Cascadia Mono"/>
                <a:cs typeface="Cascadia Mono"/>
              </a:rPr>
              <a:t>operation</a:t>
            </a:r>
            <a:r>
              <a:rPr lang="fr-FR">
                <a:latin typeface="Cascadia Mono"/>
                <a:ea typeface="Cascadia Mono"/>
                <a:cs typeface="Cascadia Mono"/>
              </a:rPr>
              <a:t> </a:t>
            </a:r>
            <a:r>
              <a:rPr lang="fr-FR">
                <a:latin typeface="Cascadia Mono"/>
                <a:ea typeface="Cascadia Mono"/>
                <a:cs typeface="Cascadia Mono"/>
              </a:rPr>
              <a:t>completed</a:t>
            </a:r>
            <a:r>
              <a:rPr lang="fr-FR">
                <a:latin typeface="Cascadia Mono"/>
                <a:ea typeface="Cascadia Mono"/>
                <a:cs typeface="Cascadia Mono"/>
              </a:rPr>
              <a:t> successfully</a:t>
            </a:r>
            <a:r>
              <a:rPr lang="fr-FR">
                <a:latin typeface="Cascadia Mono"/>
                <a:ea typeface="Cascadia Mono"/>
                <a:cs typeface="Cascadia Mono"/>
              </a:rPr>
              <a:t>."</a:t>
            </a:r>
            <a:endParaRPr/>
          </a:p>
        </p:txBody>
      </p:sp>
      <p:sp>
        <p:nvSpPr>
          <p:cNvPr id="1944741150" name="ZoneTexte 33"/>
          <p:cNvSpPr txBox="1"/>
          <p:nvPr/>
        </p:nvSpPr>
        <p:spPr bwMode="auto">
          <a:xfrm flipH="0" flipV="0">
            <a:off x="5864517" y="1687918"/>
            <a:ext cx="5544558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fr-FR" b="1">
                <a:solidFill>
                  <a:schemeClr val="accent5"/>
                </a:solidFill>
              </a:rPr>
              <a:t>Récupération de la log pour chaque cluster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760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1836760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93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431932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292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2042922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21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339214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0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2502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2502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2502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87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27874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592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31592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410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93410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19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40191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474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94474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289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56289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08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44082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" fill="hold">
                            <p:stCondLst>
                              <p:cond delay="150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75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" dur="500"/>
                                        <p:tgtEl>
                                          <p:spTgt spid="1713756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982956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Comment faire ?</a:t>
            </a:r>
            <a:endParaRPr/>
          </a:p>
        </p:txBody>
      </p:sp>
      <p:sp>
        <p:nvSpPr>
          <p:cNvPr id="938815678" name="Espace réservé du texte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2600"/>
              <a:t>Attention on va voir du code</a:t>
            </a:r>
            <a:endParaRPr sz="2600"/>
          </a:p>
        </p:txBody>
      </p:sp>
      <p:sp>
        <p:nvSpPr>
          <p:cNvPr id="151163019" name="Espace réservé du numéro de diapositive 5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1B1050-391C-A031-7109-05B9E6A18967}" type="slidenum">
              <a:rPr lang="fr-FR"/>
              <a:t>4</a:t>
            </a:fld>
            <a:endParaRPr lang="fr-FR"/>
          </a:p>
        </p:txBody>
      </p:sp>
      <p:sp>
        <p:nvSpPr>
          <p:cNvPr id="1788797365" name="Espace réservé du pied de page 4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815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388156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388156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3881567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" dur="1000"/>
                                        <p:tgtEl>
                                          <p:spTgt spid="938815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779528" name="Titre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Librairies Java disponibles</a:t>
            </a:r>
            <a:endParaRPr/>
          </a:p>
        </p:txBody>
      </p:sp>
      <p:sp>
        <p:nvSpPr>
          <p:cNvPr id="2012137735" name="Espace réservé du pied de page 4"/>
          <p:cNvSpPr>
            <a:spLocks noGrp="1"/>
          </p:cNvSpPr>
          <p:nvPr>
            <p:ph type="ftr" sz="quarter" idx="21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Comment faire ?</a:t>
            </a:r>
            <a:endParaRPr lang="fr-FR"/>
          </a:p>
        </p:txBody>
      </p:sp>
      <p:sp>
        <p:nvSpPr>
          <p:cNvPr id="886853050" name="Espace réservé du numéro de diapositive 5"/>
          <p:cNvSpPr>
            <a:spLocks noGrp="1"/>
          </p:cNvSpPr>
          <p:nvPr>
            <p:ph type="sldNum" sz="quarter" idx="22"/>
          </p:nvPr>
        </p:nvSpPr>
        <p:spPr bwMode="auto"/>
        <p:txBody>
          <a:bodyPr/>
          <a:lstStyle/>
          <a:p>
            <a:pPr>
              <a:defRPr/>
            </a:pPr>
            <a:fld id="{FE78E042-7EC2-2ED8-7F7F-DD05887BABAE}" type="slidenum">
              <a:rPr lang="fr-FR"/>
              <a:t>10</a:t>
            </a:fld>
            <a:endParaRPr lang="fr-FR"/>
          </a:p>
        </p:txBody>
      </p:sp>
      <p:sp>
        <p:nvSpPr>
          <p:cNvPr id="2143124999" name=""/>
          <p:cNvSpPr txBox="1"/>
          <p:nvPr/>
        </p:nvSpPr>
        <p:spPr bwMode="auto">
          <a:xfrm rot="0" flipH="0" flipV="0">
            <a:off x="1685115" y="1400735"/>
            <a:ext cx="296269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fr-FR" sz="2000" b="1" i="0" u="none" strike="noStrike" cap="none" spc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co.elastic.clients</a:t>
            </a:r>
            <a:endParaRPr sz="2000" b="1"/>
          </a:p>
          <a:p>
            <a:pPr algn="ctr">
              <a:defRPr/>
            </a:pPr>
            <a:r>
              <a:rPr lang="fr-FR" sz="2000" b="1" i="0" u="none" strike="noStrike" cap="none" spc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elasticsearch-java</a:t>
            </a:r>
            <a:endParaRPr sz="2000" b="1"/>
          </a:p>
        </p:txBody>
      </p:sp>
      <p:sp>
        <p:nvSpPr>
          <p:cNvPr id="2132496891" name=""/>
          <p:cNvSpPr txBox="1"/>
          <p:nvPr/>
        </p:nvSpPr>
        <p:spPr bwMode="auto">
          <a:xfrm rot="0" flipH="0" flipV="0">
            <a:off x="6332926" y="1400735"/>
            <a:ext cx="4173958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fr-FR" sz="2000" b="1" i="0" u="none" strike="noStrike" cap="none" spc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org.springframework.data</a:t>
            </a:r>
            <a:endParaRPr sz="2000" b="1"/>
          </a:p>
          <a:p>
            <a:pPr algn="ctr">
              <a:defRPr/>
            </a:pPr>
            <a:r>
              <a:rPr lang="fr-FR" sz="2000" b="1" i="0" u="none" strike="noStrike" cap="none" spc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spring-data-elasticsearch</a:t>
            </a:r>
            <a:endParaRPr sz="2000" b="1"/>
          </a:p>
        </p:txBody>
      </p:sp>
      <p:sp>
        <p:nvSpPr>
          <p:cNvPr id="1314292946" name=""/>
          <p:cNvSpPr txBox="1"/>
          <p:nvPr/>
        </p:nvSpPr>
        <p:spPr bwMode="auto">
          <a:xfrm rot="0" flipH="0" flipV="0">
            <a:off x="6538674" y="2569788"/>
            <a:ext cx="3886656" cy="2530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Intégré à Spring</a:t>
            </a:r>
            <a:endParaRPr sz="2000"/>
          </a:p>
          <a:p>
            <a:pPr algn="ctr">
              <a:defRPr/>
            </a:pPr>
            <a:r>
              <a:rPr sz="2000"/>
              <a:t>Librairie par VMWare</a:t>
            </a:r>
            <a:endParaRPr sz="2000"/>
          </a:p>
          <a:p>
            <a:pPr algn="ctr">
              <a:defRPr/>
            </a:pPr>
            <a:r>
              <a:rPr sz="2000"/>
              <a:t>Blocking</a:t>
            </a:r>
            <a:r>
              <a:rPr sz="2000"/>
              <a:t> / Async</a:t>
            </a:r>
            <a:endParaRPr sz="2000"/>
          </a:p>
          <a:p>
            <a:pPr algn="ctr">
              <a:defRPr/>
            </a:pPr>
            <a:r>
              <a:rPr sz="2000"/>
              <a:t>Usages cadrés</a:t>
            </a:r>
            <a:endParaRPr sz="2000"/>
          </a:p>
          <a:p>
            <a:pPr algn="ctr">
              <a:defRPr/>
            </a:pPr>
            <a:r>
              <a:rPr sz="2000"/>
              <a:t>Object Mapping</a:t>
            </a:r>
            <a:endParaRPr sz="2000"/>
          </a:p>
          <a:p>
            <a:pPr algn="ctr">
              <a:defRPr/>
            </a:pPr>
            <a:r>
              <a:rPr sz="2000"/>
              <a:t>Entity Callbacks</a:t>
            </a:r>
            <a:endParaRPr sz="2000"/>
          </a:p>
          <a:p>
            <a:pPr algn="ctr">
              <a:defRPr/>
            </a:pPr>
            <a:r>
              <a:rPr sz="2000"/>
              <a:t>Création d’une connexion donnée par DI au repository</a:t>
            </a:r>
            <a:endParaRPr sz="2000"/>
          </a:p>
        </p:txBody>
      </p:sp>
      <p:sp>
        <p:nvSpPr>
          <p:cNvPr id="486782366" name=""/>
          <p:cNvSpPr txBox="1"/>
          <p:nvPr/>
        </p:nvSpPr>
        <p:spPr bwMode="auto">
          <a:xfrm rot="0" flipH="0" flipV="0">
            <a:off x="1253485" y="2569788"/>
            <a:ext cx="3966708" cy="28350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Java natif</a:t>
            </a:r>
            <a:endParaRPr sz="2000"/>
          </a:p>
          <a:p>
            <a:pPr algn="ctr">
              <a:defRPr/>
            </a:pPr>
            <a:r>
              <a:rPr sz="2000"/>
              <a:t>Librairie officielle</a:t>
            </a:r>
            <a:endParaRPr sz="2000"/>
          </a:p>
          <a:p>
            <a:pPr algn="ctr">
              <a:defRPr/>
            </a:pPr>
            <a:r>
              <a:rPr sz="2000"/>
              <a:t>Blocking / Async</a:t>
            </a:r>
            <a:endParaRPr sz="2000"/>
          </a:p>
          <a:p>
            <a:pPr algn="ctr">
              <a:defRPr/>
            </a:pPr>
            <a:r>
              <a:rPr sz="2000"/>
              <a:t>Usages flexibles</a:t>
            </a:r>
            <a:endParaRPr sz="2000"/>
          </a:p>
          <a:p>
            <a:pPr algn="ctr">
              <a:defRPr/>
            </a:pPr>
            <a:r>
              <a:rPr sz="2000"/>
              <a:t>Object Mapping</a:t>
            </a:r>
            <a:endParaRPr sz="2000"/>
          </a:p>
          <a:p>
            <a:pPr algn="ctr">
              <a:defRPr/>
            </a:pPr>
            <a:r>
              <a:rPr sz="2000"/>
              <a:t>Supporte le ES|QL</a:t>
            </a:r>
            <a:endParaRPr sz="2000"/>
          </a:p>
          <a:p>
            <a:pPr algn="ctr">
              <a:defRPr/>
            </a:pPr>
            <a:r>
              <a:rPr sz="2000"/>
              <a:t>Création d’une ou plusieurs connexions donné.e.s par DI</a:t>
            </a:r>
            <a:r>
              <a:rPr sz="2000"/>
              <a:t> ou par une factory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249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1324968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32496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32496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12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1431249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143124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43124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78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0"/>
                                        <p:tgtEl>
                                          <p:spTgt spid="486782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29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0"/>
                                        <p:tgtEl>
                                          <p:spTgt spid="131429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378603" name="Titre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Connexion – Spring Data Elasticsearch</a:t>
            </a:r>
            <a:endParaRPr/>
          </a:p>
        </p:txBody>
      </p:sp>
      <p:sp>
        <p:nvSpPr>
          <p:cNvPr id="1413468873" name="Espace réservé du pied de page 4"/>
          <p:cNvSpPr>
            <a:spLocks noGrp="1"/>
          </p:cNvSpPr>
          <p:nvPr>
            <p:ph type="ftr" sz="quarter" idx="21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Comment faire ?</a:t>
            </a:r>
            <a:endParaRPr lang="fr-FR"/>
          </a:p>
        </p:txBody>
      </p:sp>
      <p:sp>
        <p:nvSpPr>
          <p:cNvPr id="1756444947" name="Espace réservé du numéro de diapositive 5"/>
          <p:cNvSpPr>
            <a:spLocks noGrp="1"/>
          </p:cNvSpPr>
          <p:nvPr>
            <p:ph type="sldNum" sz="quarter" idx="22"/>
          </p:nvPr>
        </p:nvSpPr>
        <p:spPr bwMode="auto"/>
        <p:txBody>
          <a:bodyPr/>
          <a:lstStyle/>
          <a:p>
            <a:pPr>
              <a:defRPr/>
            </a:pPr>
            <a:fld id="{C0C85E1B-A06D-6448-ABFB-C2CD42D52C41}" type="slidenum">
              <a:rPr lang="fr-FR"/>
              <a:t>8</a:t>
            </a:fld>
            <a:endParaRPr lang="fr-FR"/>
          </a:p>
        </p:txBody>
      </p:sp>
      <p:sp>
        <p:nvSpPr>
          <p:cNvPr id="1470630449" name=""/>
          <p:cNvSpPr/>
          <p:nvPr/>
        </p:nvSpPr>
        <p:spPr bwMode="auto">
          <a:xfrm flipH="0" flipV="0">
            <a:off x="382587" y="4428961"/>
            <a:ext cx="10566368" cy="9452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400" b="0" i="0" u="none">
                <a:solidFill>
                  <a:srgbClr val="1C00CF"/>
                </a:solidFill>
                <a:latin typeface="Andale Mono"/>
                <a:ea typeface="Andale Mono"/>
                <a:cs typeface="Andale Mono"/>
              </a:rPr>
              <a:t>@Repository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public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interface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1C00CF"/>
                </a:solidFill>
                <a:latin typeface="Andale Mono"/>
                <a:ea typeface="Andale Mono"/>
                <a:cs typeface="Andale Mono"/>
              </a:rPr>
              <a:t>UtilisateurRepository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extends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1C00CF"/>
                </a:solidFill>
                <a:latin typeface="Andale Mono"/>
                <a:ea typeface="Andale Mono"/>
                <a:cs typeface="Andale Mono"/>
              </a:rPr>
              <a:t>ElasticsearchRepository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&lt;Utilisateur, String&gt; {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Page&lt;Utilisateur&gt; </a:t>
            </a:r>
            <a:r>
              <a:rPr sz="1400" b="0" i="0" u="none">
                <a:solidFill>
                  <a:srgbClr val="1C00CF"/>
                </a:solidFill>
                <a:latin typeface="Andale Mono"/>
                <a:ea typeface="Andale Mono"/>
                <a:cs typeface="Andale Mono"/>
              </a:rPr>
              <a:t>findByPrenom</a:t>
            </a:r>
            <a:r>
              <a:rPr sz="1400" b="0" i="0" u="none">
                <a:solidFill>
                  <a:srgbClr val="5C2699"/>
                </a:solidFill>
                <a:latin typeface="Andale Mono"/>
                <a:ea typeface="Andale Mono"/>
                <a:cs typeface="Andale Mono"/>
              </a:rPr>
              <a:t>(String prenom, Pageable pageable)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}</a:t>
            </a:r>
            <a:endParaRPr/>
          </a:p>
        </p:txBody>
      </p:sp>
      <p:sp>
        <p:nvSpPr>
          <p:cNvPr id="201338149" name=""/>
          <p:cNvSpPr/>
          <p:nvPr/>
        </p:nvSpPr>
        <p:spPr bwMode="auto">
          <a:xfrm flipH="0" flipV="0">
            <a:off x="382587" y="1222374"/>
            <a:ext cx="11372271" cy="29264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400" b="0" i="0" u="none">
                <a:solidFill>
                  <a:srgbClr val="1C00CF"/>
                </a:solidFill>
                <a:latin typeface="Andale Mono"/>
                <a:ea typeface="Andale Mono"/>
                <a:cs typeface="Andale Mono"/>
              </a:rPr>
              <a:t>@Configuration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1C00CF"/>
                </a:solidFill>
                <a:latin typeface="Andale Mono"/>
                <a:ea typeface="Andale Mono"/>
                <a:cs typeface="Andale Mono"/>
              </a:rPr>
              <a:t>@EnableElasticsearchRepositories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public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class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1C00CF"/>
                </a:solidFill>
                <a:latin typeface="Andale Mono"/>
                <a:ea typeface="Andale Mono"/>
                <a:cs typeface="Andale Mono"/>
              </a:rPr>
              <a:t>EsConf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extends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1C00CF"/>
                </a:solidFill>
                <a:latin typeface="Andale Mono"/>
                <a:ea typeface="Andale Mono"/>
                <a:cs typeface="Andale Mono"/>
              </a:rPr>
              <a:t>ElasticsearchConfiguration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{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</a:t>
            </a:r>
            <a:r>
              <a:rPr sz="1400" b="0" i="0" u="none">
                <a:solidFill>
                  <a:srgbClr val="1C00CF"/>
                </a:solidFill>
                <a:latin typeface="Andale Mono"/>
                <a:ea typeface="Andale Mono"/>
                <a:cs typeface="Andale Mono"/>
              </a:rPr>
              <a:t>@Override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</a:t>
            </a: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public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ClientConfiguration </a:t>
            </a:r>
            <a:r>
              <a:rPr sz="1400" b="0" i="0" u="none">
                <a:solidFill>
                  <a:srgbClr val="1C00CF"/>
                </a:solidFill>
                <a:latin typeface="Andale Mono"/>
                <a:ea typeface="Andale Mono"/>
                <a:cs typeface="Andale Mono"/>
              </a:rPr>
              <a:t>clientConfiguration</a:t>
            </a:r>
            <a:r>
              <a:rPr sz="1400" b="0" i="0" u="none">
                <a:solidFill>
                  <a:srgbClr val="5C2699"/>
                </a:solidFill>
                <a:latin typeface="Andale Mono"/>
                <a:ea typeface="Andale Mono"/>
                <a:cs typeface="Andale Mono"/>
              </a:rPr>
              <a:t>()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{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    </a:t>
            </a:r>
            <a:r>
              <a:rPr sz="1400" b="0" i="0" u="none">
                <a:solidFill>
                  <a:srgbClr val="5C2699"/>
                </a:solidFill>
                <a:latin typeface="Andale Mono"/>
                <a:ea typeface="Andale Mono"/>
                <a:cs typeface="Andale Mono"/>
              </a:rPr>
              <a:t>ClientConfiguration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666600"/>
                </a:solidFill>
                <a:latin typeface="Andale Mono"/>
                <a:ea typeface="Andale Mono"/>
                <a:cs typeface="Andale Mono"/>
              </a:rPr>
              <a:t>clientConfiguration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=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ClientConfiguration.builder()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        .connectedTo(</a:t>
            </a:r>
            <a:r>
              <a:rPr sz="1400" b="0" i="0" u="none">
                <a:solidFill>
                  <a:srgbClr val="C41A16"/>
                </a:solidFill>
                <a:latin typeface="Andale Mono"/>
                <a:ea typeface="Andale Mono"/>
                <a:cs typeface="Andale Mono"/>
              </a:rPr>
              <a:t>"localhost:9200"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)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        .withBasicAuth(username, password)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        .build();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    </a:t>
            </a: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return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clientConfiguration;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}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}</a:t>
            </a:r>
            <a:endParaRPr/>
          </a:p>
        </p:txBody>
      </p:sp>
      <p:sp>
        <p:nvSpPr>
          <p:cNvPr id="275821575" name=""/>
          <p:cNvSpPr txBox="1"/>
          <p:nvPr/>
        </p:nvSpPr>
        <p:spPr bwMode="auto">
          <a:xfrm rot="0" flipH="0" flipV="0">
            <a:off x="2557876" y="5550616"/>
            <a:ext cx="661328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Il n’y a plus qu’à utiliser les méthodes données par le repository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338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01338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63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470630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82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2758215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5821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75821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012697" name="Titre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Connexion - elasticsearch-java</a:t>
            </a:r>
            <a:endParaRPr/>
          </a:p>
        </p:txBody>
      </p:sp>
      <p:sp>
        <p:nvSpPr>
          <p:cNvPr id="985379029" name="Espace réservé du pied de page 4"/>
          <p:cNvSpPr>
            <a:spLocks noGrp="1"/>
          </p:cNvSpPr>
          <p:nvPr>
            <p:ph type="ftr" sz="quarter" idx="21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Comment faire ?</a:t>
            </a:r>
            <a:endParaRPr lang="fr-FR"/>
          </a:p>
        </p:txBody>
      </p:sp>
      <p:sp>
        <p:nvSpPr>
          <p:cNvPr id="13082377" name="Espace réservé du numéro de diapositive 5"/>
          <p:cNvSpPr>
            <a:spLocks noGrp="1"/>
          </p:cNvSpPr>
          <p:nvPr>
            <p:ph type="sldNum" sz="quarter" idx="22"/>
          </p:nvPr>
        </p:nvSpPr>
        <p:spPr bwMode="auto"/>
        <p:txBody>
          <a:bodyPr/>
          <a:lstStyle/>
          <a:p>
            <a:pPr>
              <a:defRPr/>
            </a:pPr>
            <a:fld id="{E369F978-D446-94A7-51EF-E482D0BC0BA0}" type="slidenum">
              <a:rPr lang="fr-FR"/>
              <a:t>8</a:t>
            </a:fld>
            <a:endParaRPr lang="fr-FR"/>
          </a:p>
        </p:txBody>
      </p:sp>
      <p:sp>
        <p:nvSpPr>
          <p:cNvPr id="245859412" name=""/>
          <p:cNvSpPr txBox="1"/>
          <p:nvPr/>
        </p:nvSpPr>
        <p:spPr bwMode="auto">
          <a:xfrm rot="0" flipH="0" flipV="0">
            <a:off x="5954265" y="4139859"/>
            <a:ext cx="6230465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return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ElasticsearchClient.of(c -&gt;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c.host(host).usernameAndPassword(user, password)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);</a:t>
            </a:r>
            <a:endParaRPr/>
          </a:p>
        </p:txBody>
      </p:sp>
      <p:sp>
        <p:nvSpPr>
          <p:cNvPr id="1172240964" name=""/>
          <p:cNvSpPr txBox="1"/>
          <p:nvPr/>
        </p:nvSpPr>
        <p:spPr bwMode="auto">
          <a:xfrm rot="0" flipH="0" flipV="0">
            <a:off x="5954265" y="5096542"/>
            <a:ext cx="5609797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return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ElasticsearchClient.of(c -&gt;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c.host(host).token(token);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);</a:t>
            </a:r>
            <a:endParaRPr/>
          </a:p>
        </p:txBody>
      </p:sp>
      <p:sp>
        <p:nvSpPr>
          <p:cNvPr id="1449166583" name=""/>
          <p:cNvSpPr txBox="1"/>
          <p:nvPr/>
        </p:nvSpPr>
        <p:spPr bwMode="auto">
          <a:xfrm rot="0" flipH="0" flipV="0">
            <a:off x="382587" y="1310850"/>
            <a:ext cx="11698003" cy="2652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b="0" i="0" u="none">
                <a:solidFill>
                  <a:srgbClr val="5C2699"/>
                </a:solidFill>
                <a:latin typeface="Andale Mono"/>
                <a:ea typeface="Andale Mono"/>
                <a:cs typeface="Andale Mono"/>
              </a:rPr>
              <a:t>CredentialsProvider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666600"/>
                </a:solidFill>
                <a:latin typeface="Andale Mono"/>
                <a:ea typeface="Andale Mono"/>
                <a:cs typeface="Andale Mono"/>
              </a:rPr>
              <a:t>credentialsProvider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=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new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1C00CF"/>
                </a:solidFill>
                <a:latin typeface="Andale Mono"/>
                <a:ea typeface="Andale Mono"/>
                <a:cs typeface="Andale Mono"/>
              </a:rPr>
              <a:t>BasicCredentialsProvider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();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credentialsProvider.setCredentials(AuthScope.ANY, </a:t>
            </a: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new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1C00CF"/>
                </a:solidFill>
                <a:latin typeface="Andale Mono"/>
                <a:ea typeface="Andale Mono"/>
                <a:cs typeface="Andale Mono"/>
              </a:rPr>
              <a:t>UsernamePasswordCredentials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(user, password));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5C2699"/>
                </a:solidFill>
                <a:latin typeface="Andale Mono"/>
                <a:ea typeface="Andale Mono"/>
                <a:cs typeface="Andale Mono"/>
              </a:rPr>
              <a:t>RestClient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666600"/>
                </a:solidFill>
                <a:latin typeface="Andale Mono"/>
                <a:ea typeface="Andale Mono"/>
                <a:cs typeface="Andale Mono"/>
              </a:rPr>
              <a:t>restClient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=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RestClient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.builder(HttpHost.create(host))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.setHttpClientConfigCallback(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    callbackConfig -&gt; callbackConfig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       .setDefaultCredentialsProvider(credentialsProvider)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       .setSSLContext(sslContext))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.build();</a:t>
            </a:r>
            <a:r>
              <a:rPr sz="1400" b="0" i="0" u="none">
                <a:solidFill>
                  <a:srgbClr val="5C2699"/>
                </a:solidFill>
                <a:latin typeface="Andale Mono"/>
                <a:ea typeface="Andale Mono"/>
                <a:cs typeface="Andale Mono"/>
              </a:rPr>
              <a:t>CredentialsProvider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666600"/>
                </a:solidFill>
                <a:latin typeface="Andale Mono"/>
                <a:ea typeface="Andale Mono"/>
                <a:cs typeface="Andale Mono"/>
              </a:rPr>
              <a:t>credentialsProvider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=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new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1C00CF"/>
                </a:solidFill>
                <a:latin typeface="Andale Mono"/>
                <a:ea typeface="Andale Mono"/>
                <a:cs typeface="Andale Mono"/>
              </a:rPr>
              <a:t>BasicCredentialsProvider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();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    credentialsProvider.setCredentials(AuthScope.ANY, </a:t>
            </a: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new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1C00CF"/>
                </a:solidFill>
                <a:latin typeface="Andale Mono"/>
                <a:ea typeface="Andale Mono"/>
                <a:cs typeface="Andale Mono"/>
              </a:rPr>
              <a:t>UsernamePasswordCredentials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(user, password));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5C2699"/>
                </a:solidFill>
                <a:latin typeface="Andale Mono"/>
                <a:ea typeface="Andale Mono"/>
                <a:cs typeface="Andale Mono"/>
              </a:rPr>
              <a:t>ElasticsearchTransport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666600"/>
                </a:solidFill>
                <a:latin typeface="Andale Mono"/>
                <a:ea typeface="Andale Mono"/>
                <a:cs typeface="Andale Mono"/>
              </a:rPr>
              <a:t>transport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=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new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1C00CF"/>
                </a:solidFill>
                <a:latin typeface="Andale Mono"/>
                <a:ea typeface="Andale Mono"/>
                <a:cs typeface="Andale Mono"/>
              </a:rPr>
              <a:t>RestClientTransport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(restClient, </a:t>
            </a: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new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1C00CF"/>
                </a:solidFill>
                <a:latin typeface="Andale Mono"/>
                <a:ea typeface="Andale Mono"/>
                <a:cs typeface="Andale Mono"/>
              </a:rPr>
              <a:t>JacksonJsonpMapper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());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return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new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1C00CF"/>
                </a:solidFill>
                <a:latin typeface="Andale Mono"/>
                <a:ea typeface="Andale Mono"/>
                <a:cs typeface="Andale Mono"/>
              </a:rPr>
              <a:t>ElasticsearchClient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(transport);</a:t>
            </a:r>
            <a:endParaRPr/>
          </a:p>
        </p:txBody>
      </p:sp>
      <p:sp>
        <p:nvSpPr>
          <p:cNvPr id="2114404390" name=""/>
          <p:cNvSpPr txBox="1"/>
          <p:nvPr/>
        </p:nvSpPr>
        <p:spPr bwMode="auto">
          <a:xfrm rot="0" flipH="0" flipV="0">
            <a:off x="9639472" y="2293500"/>
            <a:ext cx="142895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version 8.19</a:t>
            </a:r>
            <a:endParaRPr/>
          </a:p>
        </p:txBody>
      </p:sp>
      <p:sp>
        <p:nvSpPr>
          <p:cNvPr id="1774158443" name=""/>
          <p:cNvSpPr txBox="1"/>
          <p:nvPr/>
        </p:nvSpPr>
        <p:spPr bwMode="auto">
          <a:xfrm rot="0" flipH="0" flipV="0">
            <a:off x="2283931" y="4780459"/>
            <a:ext cx="1435311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version 9.0+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40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14404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166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0"/>
                                        <p:tgtEl>
                                          <p:spTgt spid="1449166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144916658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3" dur="indefinite"/>
                                        <p:tgtEl>
                                          <p:spTgt spid="1449166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15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7741584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774158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74158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4585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2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1722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137065" name="Titre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Opération - elasticsearch-java</a:t>
            </a:r>
            <a:endParaRPr/>
          </a:p>
        </p:txBody>
      </p:sp>
      <p:sp>
        <p:nvSpPr>
          <p:cNvPr id="659915391" name="Espace réservé du pied de page 4"/>
          <p:cNvSpPr>
            <a:spLocks noGrp="1"/>
          </p:cNvSpPr>
          <p:nvPr>
            <p:ph type="ftr" sz="quarter" idx="21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Comment faire ?</a:t>
            </a:r>
            <a:endParaRPr lang="fr-FR"/>
          </a:p>
        </p:txBody>
      </p:sp>
      <p:sp>
        <p:nvSpPr>
          <p:cNvPr id="26996752" name="Espace réservé du numéro de diapositive 5"/>
          <p:cNvSpPr>
            <a:spLocks noGrp="1"/>
          </p:cNvSpPr>
          <p:nvPr>
            <p:ph type="sldNum" sz="quarter" idx="22"/>
          </p:nvPr>
        </p:nvSpPr>
        <p:spPr bwMode="auto"/>
        <p:txBody>
          <a:bodyPr/>
          <a:lstStyle/>
          <a:p>
            <a:pPr>
              <a:defRPr/>
            </a:pPr>
            <a:fld id="{8B76E72E-8EF3-5DF4-5D51-65EC6239FF66}" type="slidenum">
              <a:rPr lang="fr-FR"/>
              <a:t>9</a:t>
            </a:fld>
            <a:endParaRPr lang="fr-FR"/>
          </a:p>
        </p:txBody>
      </p:sp>
      <p:sp>
        <p:nvSpPr>
          <p:cNvPr id="184737768" name=""/>
          <p:cNvSpPr txBox="1"/>
          <p:nvPr/>
        </p:nvSpPr>
        <p:spPr bwMode="auto">
          <a:xfrm rot="0" flipH="0" flipV="0">
            <a:off x="382587" y="1785531"/>
            <a:ext cx="3597904" cy="7318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esClient.indices().create(c -&gt; c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.index(</a:t>
            </a:r>
            <a:r>
              <a:rPr sz="1400" b="0" i="0" u="none">
                <a:solidFill>
                  <a:srgbClr val="C41A16"/>
                </a:solidFill>
                <a:latin typeface="Andale Mono"/>
                <a:ea typeface="Andale Mono"/>
                <a:cs typeface="Andale Mono"/>
              </a:rPr>
              <a:t>"utilisateurs"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)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);</a:t>
            </a:r>
            <a:endParaRPr/>
          </a:p>
        </p:txBody>
      </p:sp>
      <p:sp>
        <p:nvSpPr>
          <p:cNvPr id="507486027" name=""/>
          <p:cNvSpPr txBox="1"/>
          <p:nvPr/>
        </p:nvSpPr>
        <p:spPr bwMode="auto">
          <a:xfrm rot="0" flipH="0" flipV="0">
            <a:off x="378693" y="1419411"/>
            <a:ext cx="1835585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Création d’index</a:t>
            </a:r>
            <a:endParaRPr/>
          </a:p>
        </p:txBody>
      </p:sp>
      <p:sp>
        <p:nvSpPr>
          <p:cNvPr id="469577160" name=""/>
          <p:cNvSpPr txBox="1"/>
          <p:nvPr/>
        </p:nvSpPr>
        <p:spPr bwMode="auto">
          <a:xfrm rot="0" flipH="0" flipV="0">
            <a:off x="6021255" y="1785531"/>
            <a:ext cx="5198359" cy="15853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b="0" i="0" u="none">
                <a:solidFill>
                  <a:srgbClr val="5C2699"/>
                </a:solidFill>
                <a:latin typeface="Andale Mono"/>
                <a:ea typeface="Andale Mono"/>
                <a:cs typeface="Andale Mono"/>
              </a:rPr>
              <a:t>Utilisateur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666600"/>
                </a:solidFill>
                <a:latin typeface="Andale Mono"/>
                <a:ea typeface="Andale Mono"/>
                <a:cs typeface="Andale Mono"/>
              </a:rPr>
              <a:t>user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=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new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1C00CF"/>
                </a:solidFill>
                <a:latin typeface="Andale Mono"/>
                <a:ea typeface="Andale Mono"/>
                <a:cs typeface="Andale Mono"/>
              </a:rPr>
              <a:t>Utilisateur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(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</a:t>
            </a:r>
            <a:r>
              <a:rPr sz="1400" b="0" i="0" u="none">
                <a:solidFill>
                  <a:srgbClr val="C41A16"/>
                </a:solidFill>
                <a:latin typeface="Andale Mono"/>
                <a:ea typeface="Andale Mono"/>
                <a:cs typeface="Andale Mono"/>
              </a:rPr>
              <a:t>"Ambre"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, </a:t>
            </a:r>
            <a:r>
              <a:rPr sz="1400" b="0" i="0" u="none">
                <a:solidFill>
                  <a:srgbClr val="C41A16"/>
                </a:solidFill>
                <a:latin typeface="Andale Mono"/>
                <a:ea typeface="Andale Mono"/>
                <a:cs typeface="Andale Mono"/>
              </a:rPr>
              <a:t>"Mehr"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, </a:t>
            </a:r>
            <a:r>
              <a:rPr sz="1400" b="0" i="0" u="none">
                <a:solidFill>
                  <a:srgbClr val="C41A16"/>
                </a:solidFill>
                <a:latin typeface="Andale Mono"/>
                <a:ea typeface="Andale Mono"/>
                <a:cs typeface="Andale Mono"/>
              </a:rPr>
              <a:t>"ambre.mehr@outlook.com"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);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5C2699"/>
                </a:solidFill>
                <a:latin typeface="Andale Mono"/>
                <a:ea typeface="Andale Mono"/>
                <a:cs typeface="Andale Mono"/>
              </a:rPr>
              <a:t>IndexResponse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666600"/>
                </a:solidFill>
                <a:latin typeface="Andale Mono"/>
                <a:ea typeface="Andale Mono"/>
                <a:cs typeface="Andale Mono"/>
              </a:rPr>
              <a:t>response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=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esClient.index(i -&gt; i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.index(</a:t>
            </a:r>
            <a:r>
              <a:rPr sz="1400" b="0" i="0" u="none">
                <a:solidFill>
                  <a:srgbClr val="C41A16"/>
                </a:solidFill>
                <a:latin typeface="Andale Mono"/>
                <a:ea typeface="Andale Mono"/>
                <a:cs typeface="Andale Mono"/>
              </a:rPr>
              <a:t>"utilisateurs"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)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.id(user.getEmail())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.document(user)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);</a:t>
            </a:r>
            <a:endParaRPr/>
          </a:p>
        </p:txBody>
      </p:sp>
      <p:sp>
        <p:nvSpPr>
          <p:cNvPr id="1020216605" name=""/>
          <p:cNvSpPr txBox="1"/>
          <p:nvPr/>
        </p:nvSpPr>
        <p:spPr bwMode="auto">
          <a:xfrm rot="0" flipH="0" flipV="0">
            <a:off x="6017360" y="1419411"/>
            <a:ext cx="2293453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Indexation d’un objet</a:t>
            </a:r>
            <a:endParaRPr/>
          </a:p>
        </p:txBody>
      </p:sp>
      <p:sp>
        <p:nvSpPr>
          <p:cNvPr id="1269435503" name=""/>
          <p:cNvSpPr txBox="1"/>
          <p:nvPr/>
        </p:nvSpPr>
        <p:spPr bwMode="auto">
          <a:xfrm rot="0" flipH="0" flipV="0">
            <a:off x="382587" y="3736971"/>
            <a:ext cx="5754746" cy="20120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GetResponse&lt;Utilisateur&gt; response = esClient.get(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g -&gt; g.index(</a:t>
            </a:r>
            <a:r>
              <a:rPr sz="1400" b="0" i="0" u="none">
                <a:solidFill>
                  <a:srgbClr val="C41A16"/>
                </a:solidFill>
                <a:latin typeface="Andale Mono"/>
                <a:ea typeface="Andale Mono"/>
                <a:cs typeface="Andale Mono"/>
              </a:rPr>
              <a:t>"products"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)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.id(</a:t>
            </a:r>
            <a:r>
              <a:rPr sz="1400" b="0" i="0" u="none">
                <a:solidFill>
                  <a:srgbClr val="C41A16"/>
                </a:solidFill>
                <a:latin typeface="Andale Mono"/>
                <a:ea typeface="Andale Mono"/>
                <a:cs typeface="Andale Mono"/>
              </a:rPr>
              <a:t>"ambre.mehr@outlook.com"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),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Utilisateur.class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);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if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(response.found()) {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</a:t>
            </a:r>
            <a:r>
              <a:rPr sz="1400" b="0" i="0" u="none">
                <a:solidFill>
                  <a:srgbClr val="5C2699"/>
                </a:solidFill>
                <a:latin typeface="Andale Mono"/>
                <a:ea typeface="Andale Mono"/>
                <a:cs typeface="Andale Mono"/>
              </a:rPr>
              <a:t>Utilisateur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666600"/>
                </a:solidFill>
                <a:latin typeface="Andale Mono"/>
                <a:ea typeface="Andale Mono"/>
                <a:cs typeface="Andale Mono"/>
              </a:rPr>
              <a:t>user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=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response.source();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logger.info(</a:t>
            </a:r>
            <a:r>
              <a:rPr sz="1400" b="0" i="0" u="none">
                <a:solidFill>
                  <a:srgbClr val="C41A16"/>
                </a:solidFill>
                <a:latin typeface="Andale Mono"/>
                <a:ea typeface="Andale Mono"/>
                <a:cs typeface="Andale Mono"/>
              </a:rPr>
              <a:t>"Prénom {}"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, user.getPrenom());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}</a:t>
            </a:r>
            <a:endParaRPr/>
          </a:p>
        </p:txBody>
      </p:sp>
      <p:sp>
        <p:nvSpPr>
          <p:cNvPr id="165162214" name=""/>
          <p:cNvSpPr txBox="1"/>
          <p:nvPr/>
        </p:nvSpPr>
        <p:spPr bwMode="auto">
          <a:xfrm rot="0" flipH="0" flipV="0">
            <a:off x="386482" y="3370851"/>
            <a:ext cx="2598289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Récupération d’un objet</a:t>
            </a:r>
            <a:endParaRPr/>
          </a:p>
        </p:txBody>
      </p:sp>
      <p:sp>
        <p:nvSpPr>
          <p:cNvPr id="610273953" name=""/>
          <p:cNvSpPr txBox="1"/>
          <p:nvPr/>
        </p:nvSpPr>
        <p:spPr bwMode="auto">
          <a:xfrm rot="0" flipH="0" flipV="0">
            <a:off x="6052343" y="4192616"/>
            <a:ext cx="2560114" cy="1189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Recherche d’objets</a:t>
            </a:r>
            <a:endParaRPr/>
          </a:p>
          <a:p>
            <a:pPr>
              <a:defRPr/>
            </a:pPr>
            <a:r>
              <a:rPr/>
              <a:t>Mise à jour d’un objet</a:t>
            </a:r>
            <a:endParaRPr/>
          </a:p>
          <a:p>
            <a:pPr>
              <a:defRPr/>
            </a:pPr>
            <a:r>
              <a:rPr/>
              <a:t>Suppression d’un objet</a:t>
            </a:r>
            <a:endParaRPr/>
          </a:p>
          <a:p>
            <a:pPr>
              <a:defRPr/>
            </a:pPr>
            <a:r>
              <a:rPr/>
              <a:t>Suppression d’un index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48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0748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3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4737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216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0216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57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9577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435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69435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6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5162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273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0"/>
                                        <p:tgtEl>
                                          <p:spTgt spid="610273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464062" name="Titre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Recherche - elasticsearch-java</a:t>
            </a:r>
            <a:endParaRPr/>
          </a:p>
        </p:txBody>
      </p:sp>
      <p:sp>
        <p:nvSpPr>
          <p:cNvPr id="1412202909" name="Espace réservé du pied de page 4"/>
          <p:cNvSpPr>
            <a:spLocks noGrp="1"/>
          </p:cNvSpPr>
          <p:nvPr>
            <p:ph type="ftr" sz="quarter" idx="21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Comment faire ?</a:t>
            </a:r>
            <a:endParaRPr lang="fr-FR"/>
          </a:p>
        </p:txBody>
      </p:sp>
      <p:sp>
        <p:nvSpPr>
          <p:cNvPr id="486848163" name="Espace réservé du numéro de diapositive 5"/>
          <p:cNvSpPr>
            <a:spLocks noGrp="1"/>
          </p:cNvSpPr>
          <p:nvPr>
            <p:ph type="sldNum" sz="quarter" idx="22"/>
          </p:nvPr>
        </p:nvSpPr>
        <p:spPr bwMode="auto"/>
        <p:txBody>
          <a:bodyPr/>
          <a:lstStyle/>
          <a:p>
            <a:pPr>
              <a:defRPr/>
            </a:pPr>
            <a:fld id="{1A3D4C9E-26D1-E5FB-2972-207E5DFF416E}" type="slidenum">
              <a:rPr lang="fr-FR"/>
              <a:t>9</a:t>
            </a:fld>
            <a:endParaRPr lang="fr-FR"/>
          </a:p>
        </p:txBody>
      </p:sp>
      <p:sp>
        <p:nvSpPr>
          <p:cNvPr id="871226681" name=""/>
          <p:cNvSpPr txBox="1"/>
          <p:nvPr/>
        </p:nvSpPr>
        <p:spPr bwMode="auto">
          <a:xfrm rot="0" flipH="0" flipV="0">
            <a:off x="382587" y="1415017"/>
            <a:ext cx="7892229" cy="3965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Recherche d’objets utilisant Query DSL (Domain Specific Language</a:t>
            </a:r>
            <a:r>
              <a:rPr sz="2000"/>
              <a:t>)</a:t>
            </a:r>
            <a:endParaRPr/>
          </a:p>
        </p:txBody>
      </p:sp>
      <p:sp>
        <p:nvSpPr>
          <p:cNvPr id="1649229890" name=""/>
          <p:cNvSpPr txBox="1"/>
          <p:nvPr/>
        </p:nvSpPr>
        <p:spPr bwMode="auto">
          <a:xfrm rot="0" flipH="0" flipV="0">
            <a:off x="382587" y="1811617"/>
            <a:ext cx="9693861" cy="3353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List&lt;Utilisateur&gt; utilisateurs = </a:t>
            </a: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new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1C00CF"/>
                </a:solidFill>
                <a:latin typeface="Andale Mono"/>
                <a:ea typeface="Andale Mono"/>
                <a:cs typeface="Andale Mono"/>
              </a:rPr>
              <a:t>ArrayList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&lt;&gt;();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SearchResponse&lt;Utilisateur&gt; searchResponse = esClient.search(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s -&gt; s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    .index(</a:t>
            </a:r>
            <a:r>
              <a:rPr sz="1400" b="0" i="0" u="none">
                <a:solidFill>
                  <a:srgbClr val="C41A16"/>
                </a:solidFill>
                <a:latin typeface="Andale Mono"/>
                <a:ea typeface="Andale Mono"/>
                <a:cs typeface="Andale Mono"/>
              </a:rPr>
              <a:t>"utilisateurs"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)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.query(q -&gt;q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  .queryString(t -&gt; t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      .query(</a:t>
            </a:r>
            <a:r>
              <a:rPr sz="1400" b="0" i="0" u="none">
                <a:solidFill>
                  <a:srgbClr val="C41A16"/>
                </a:solidFill>
                <a:latin typeface="Andale Mono"/>
                <a:ea typeface="Andale Mono"/>
                <a:cs typeface="Andale Mono"/>
              </a:rPr>
              <a:t>"*outlook*"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)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      .analyzeWildcard(</a:t>
            </a: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true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)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)),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Utilisateur.class</a:t>
            </a:r>
            <a:endParaRPr sz="1400" b="0" i="0" u="none">
              <a:solidFill>
                <a:srgbClr val="000000"/>
              </a:solidFill>
              <a:latin typeface="Andale Mono"/>
              <a:ea typeface="Andale Mono"/>
              <a:cs typeface="Andale Mono"/>
            </a:endParaRPr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);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for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(Hit&lt;Utilisateur&gt; utilisateur : searchResponse.hits().hits()) {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utilisateurs.add(utilisateur.source());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}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22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649229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9006199" name="Titre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Recherche - elasticsearch-java</a:t>
            </a:r>
            <a:endParaRPr/>
          </a:p>
        </p:txBody>
      </p:sp>
      <p:sp>
        <p:nvSpPr>
          <p:cNvPr id="565599430" name="Espace réservé du pied de page 4"/>
          <p:cNvSpPr>
            <a:spLocks noGrp="1"/>
          </p:cNvSpPr>
          <p:nvPr>
            <p:ph type="ftr" sz="quarter" idx="21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Comment faire ?</a:t>
            </a:r>
            <a:endParaRPr lang="fr-FR"/>
          </a:p>
        </p:txBody>
      </p:sp>
      <p:sp>
        <p:nvSpPr>
          <p:cNvPr id="1683542522" name="Espace réservé du numéro de diapositive 5"/>
          <p:cNvSpPr>
            <a:spLocks noGrp="1"/>
          </p:cNvSpPr>
          <p:nvPr>
            <p:ph type="sldNum" sz="quarter" idx="22"/>
          </p:nvPr>
        </p:nvSpPr>
        <p:spPr bwMode="auto"/>
        <p:txBody>
          <a:bodyPr/>
          <a:lstStyle/>
          <a:p>
            <a:pPr>
              <a:defRPr/>
            </a:pPr>
            <a:fld id="{C9462A0F-AC82-DC9D-7ED5-90092A1E3C6F}" type="slidenum">
              <a:rPr lang="fr-FR"/>
              <a:t>11</a:t>
            </a:fld>
            <a:endParaRPr lang="fr-FR"/>
          </a:p>
        </p:txBody>
      </p:sp>
      <p:sp>
        <p:nvSpPr>
          <p:cNvPr id="1176568122" name=""/>
          <p:cNvSpPr txBox="1"/>
          <p:nvPr/>
        </p:nvSpPr>
        <p:spPr bwMode="auto">
          <a:xfrm rot="0" flipH="0" flipV="0">
            <a:off x="382586" y="1415016"/>
            <a:ext cx="4103954" cy="3965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Recherche d’objets utilisant ES|QL</a:t>
            </a:r>
            <a:endParaRPr/>
          </a:p>
        </p:txBody>
      </p:sp>
      <p:sp>
        <p:nvSpPr>
          <p:cNvPr id="1651797171" name=""/>
          <p:cNvSpPr txBox="1"/>
          <p:nvPr/>
        </p:nvSpPr>
        <p:spPr bwMode="auto">
          <a:xfrm rot="0" flipH="0" flipV="0">
            <a:off x="382587" y="1811616"/>
            <a:ext cx="6791808" cy="3048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b="0" i="0" u="none">
                <a:solidFill>
                  <a:srgbClr val="5C2699"/>
                </a:solidFill>
                <a:latin typeface="Andale Mono"/>
                <a:ea typeface="Andale Mono"/>
                <a:cs typeface="Andale Mono"/>
              </a:rPr>
              <a:t>String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666600"/>
                </a:solidFill>
                <a:latin typeface="Andale Mono"/>
                <a:ea typeface="Andale Mono"/>
                <a:cs typeface="Andale Mono"/>
              </a:rPr>
              <a:t>query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=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C41A16"/>
                </a:solidFill>
                <a:latin typeface="Andale Mono"/>
                <a:ea typeface="Andale Mono"/>
                <a:cs typeface="Andale Mono"/>
              </a:rPr>
              <a:t>""</a:t>
            </a:r>
            <a:r>
              <a:rPr sz="1400" b="0" i="0" u="none">
                <a:solidFill>
                  <a:srgbClr val="C41A16"/>
                </a:solidFill>
                <a:latin typeface="Andale Mono"/>
                <a:ea typeface="Andale Mono"/>
                <a:cs typeface="Andale Mono"/>
              </a:rPr>
              <a:t>"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FROM utilisateurs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| WHERE email LIKE "*outlook*</a:t>
            </a:r>
            <a:r>
              <a:rPr sz="1400" b="0" i="0" u="none">
                <a:solidFill>
                  <a:srgbClr val="C41A16"/>
                </a:solidFill>
                <a:latin typeface="Andale Mono"/>
                <a:ea typeface="Andale Mono"/>
                <a:cs typeface="Andale Mono"/>
              </a:rPr>
              <a:t>"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| KEEP nom, prenom, email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"</a:t>
            </a:r>
            <a:r>
              <a:rPr sz="1400" b="0" i="0" u="none">
                <a:solidFill>
                  <a:srgbClr val="C41A16"/>
                </a:solidFill>
                <a:latin typeface="Andale Mono"/>
                <a:ea typeface="Andale Mono"/>
                <a:cs typeface="Andale Mono"/>
              </a:rPr>
              <a:t>""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List&lt;Utilisateur&gt; result = (List&lt;Utilisateur&gt;) esClient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.esql()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.query(ObjectsEsqlAdapter.of(Utilisateur.class), query);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return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result;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}</a:t>
            </a:r>
            <a:endParaRPr/>
          </a:p>
        </p:txBody>
      </p:sp>
      <p:sp>
        <p:nvSpPr>
          <p:cNvPr id="1565685019" name=""/>
          <p:cNvSpPr/>
          <p:nvPr/>
        </p:nvSpPr>
        <p:spPr bwMode="auto">
          <a:xfrm rot="0" flipH="0" flipV="0">
            <a:off x="3615029" y="2465294"/>
            <a:ext cx="3857470" cy="261470"/>
          </a:xfrm>
          <a:prstGeom prst="leftArrow">
            <a:avLst>
              <a:gd name="adj1" fmla="val 50000"/>
              <a:gd name="adj2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2327475" name=""/>
          <p:cNvSpPr txBox="1"/>
          <p:nvPr/>
        </p:nvSpPr>
        <p:spPr bwMode="auto">
          <a:xfrm rot="0" flipH="0" flipV="0">
            <a:off x="7808676" y="1864329"/>
            <a:ext cx="3810719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Permet de garder précisément les champs souhaités, </a:t>
            </a:r>
            <a:endParaRPr/>
          </a:p>
          <a:p>
            <a:pPr>
              <a:defRPr/>
            </a:pPr>
            <a:r>
              <a:rPr/>
              <a:t>même en cas de changements du modèle</a:t>
            </a:r>
            <a:r>
              <a:rPr/>
              <a:t> (ajout d’un attribut par exemple)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79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165179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68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656850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65685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565685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327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6623274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62327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662327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6329289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Usage concret de elasticsearch-java</a:t>
            </a:r>
            <a:endParaRPr/>
          </a:p>
        </p:txBody>
      </p:sp>
      <p:sp>
        <p:nvSpPr>
          <p:cNvPr id="246025123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1200" b="1" i="0" u="none" strike="noStrike" cap="none" spc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Comment faire ?</a:t>
            </a:r>
            <a:endParaRPr sz="1200"/>
          </a:p>
        </p:txBody>
      </p:sp>
      <p:sp>
        <p:nvSpPr>
          <p:cNvPr id="297163221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34030A4-FA95-1DD1-5F28-7641C4221415}" type="slidenum">
              <a:rPr lang="fr-FR"/>
              <a:t>12</a:t>
            </a:fld>
            <a:endParaRPr lang="fr-FR"/>
          </a:p>
        </p:txBody>
      </p:sp>
      <p:sp>
        <p:nvSpPr>
          <p:cNvPr id="1471281589" name=""/>
          <p:cNvSpPr txBox="1"/>
          <p:nvPr/>
        </p:nvSpPr>
        <p:spPr bwMode="auto">
          <a:xfrm rot="0" flipH="0" flipV="0">
            <a:off x="382587" y="1222374"/>
            <a:ext cx="11171462" cy="4480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b="0" i="0" u="none">
                <a:solidFill>
                  <a:srgbClr val="5C2699"/>
                </a:solidFill>
                <a:latin typeface="Andale Mono"/>
                <a:ea typeface="Andale Mono"/>
                <a:cs typeface="Andale Mono"/>
              </a:rPr>
              <a:t>String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666600"/>
                </a:solidFill>
                <a:latin typeface="Andale Mono"/>
                <a:ea typeface="Andale Mono"/>
                <a:cs typeface="Andale Mono"/>
              </a:rPr>
              <a:t>queryString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=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C41A16"/>
                </a:solidFill>
                <a:latin typeface="Andale Mono"/>
                <a:ea typeface="Andale Mono"/>
                <a:cs typeface="Andale Mono"/>
              </a:rPr>
              <a:t>""</a:t>
            </a:r>
            <a:r>
              <a:rPr sz="1400" b="0" i="0" u="none">
                <a:solidFill>
                  <a:srgbClr val="C41A16"/>
                </a:solidFill>
                <a:latin typeface="Andale Mono"/>
                <a:ea typeface="Andale Mono"/>
                <a:cs typeface="Andale Mono"/>
              </a:rPr>
              <a:t>"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| WHERE message LIKE "*Backup of the cluster done*</a:t>
            </a:r>
            <a:r>
              <a:rPr sz="1400" b="0" i="0" u="none">
                <a:solidFill>
                  <a:srgbClr val="C41A16"/>
                </a:solidFill>
                <a:latin typeface="Andale Mono"/>
                <a:ea typeface="Andale Mono"/>
                <a:cs typeface="Andale Mono"/>
              </a:rPr>
              <a:t>"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| KEEP message, @timestamp, hostname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| SORT @timestamp DESC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| LIMIT 10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"</a:t>
            </a:r>
            <a:r>
              <a:rPr sz="1400" b="0" i="0" u="none">
                <a:solidFill>
                  <a:srgbClr val="C41A16"/>
                </a:solidFill>
                <a:latin typeface="Andale Mono"/>
                <a:ea typeface="Andale Mono"/>
                <a:cs typeface="Andale Mono"/>
              </a:rPr>
              <a:t>""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6A00"/>
                </a:solidFill>
                <a:latin typeface="Andale Mono"/>
                <a:ea typeface="Andale Mono"/>
                <a:cs typeface="Andale Mono"/>
              </a:rPr>
              <a:t>/* Dépendant du type de cluster, passé en paramètre */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5C2699"/>
                </a:solidFill>
                <a:latin typeface="Andale Mono"/>
                <a:ea typeface="Andale Mono"/>
                <a:cs typeface="Andale Mono"/>
              </a:rPr>
              <a:t>LocalDate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666600"/>
                </a:solidFill>
                <a:latin typeface="Andale Mono"/>
                <a:ea typeface="Andale Mono"/>
                <a:cs typeface="Andale Mono"/>
              </a:rPr>
              <a:t>localDate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=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LocalDate.now().minusDays(</a:t>
            </a:r>
            <a:r>
              <a:rPr sz="1400" b="0" i="0" u="none">
                <a:solidFill>
                  <a:srgbClr val="1C00CF"/>
                </a:solidFill>
                <a:latin typeface="Andale Mono"/>
                <a:ea typeface="Andale Mono"/>
                <a:cs typeface="Andale Mono"/>
              </a:rPr>
              <a:t>1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);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5C2699"/>
                </a:solidFill>
                <a:latin typeface="Andale Mono"/>
                <a:ea typeface="Andale Mono"/>
                <a:cs typeface="Andale Mono"/>
              </a:rPr>
              <a:t>String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666600"/>
                </a:solidFill>
                <a:latin typeface="Andale Mono"/>
                <a:ea typeface="Andale Mono"/>
                <a:cs typeface="Andale Mono"/>
              </a:rPr>
              <a:t>query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=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String.format(</a:t>
            </a:r>
            <a:r>
              <a:rPr sz="1400" b="0" i="0" u="none">
                <a:solidFill>
                  <a:srgbClr val="C41A16"/>
                </a:solidFill>
                <a:latin typeface="Andale Mono"/>
                <a:ea typeface="Andale Mono"/>
                <a:cs typeface="Andale Mono"/>
              </a:rPr>
              <a:t>"FROM %s-%s %s"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, 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appEnv.getAppCode().toLowerCase(),</a:t>
            </a:r>
            <a:endParaRPr sz="1400" b="0" i="0" u="none">
              <a:solidFill>
                <a:srgbClr val="000000"/>
              </a:solidFill>
              <a:latin typeface="Andale Mono"/>
              <a:ea typeface="Andale Mono"/>
              <a:cs typeface="Andale Mono"/>
            </a:endParaRPr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dateFormatter.format(localDate), 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queryString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);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5C2699"/>
                </a:solidFill>
                <a:latin typeface="Andale Mono"/>
                <a:ea typeface="Andale Mono"/>
                <a:cs typeface="Andale Mono"/>
              </a:rPr>
              <a:t>ResultSet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666600"/>
                </a:solidFill>
                <a:latin typeface="Andale Mono"/>
                <a:ea typeface="Andale Mono"/>
                <a:cs typeface="Andale Mono"/>
              </a:rPr>
              <a:t>rs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=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esClient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.esql()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.query(ResultSetEsqlAdapter.INSTANCE, query);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List&lt;ClusterBackup&gt; result = </a:t>
            </a: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new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1C00CF"/>
                </a:solidFill>
                <a:latin typeface="Andale Mono"/>
                <a:ea typeface="Andale Mono"/>
                <a:cs typeface="Andale Mono"/>
              </a:rPr>
              <a:t>ArrayList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&lt;&gt;();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while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(rs.next()) {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</a:t>
            </a:r>
            <a:r>
              <a:rPr sz="1400" b="0" i="0" u="none">
                <a:solidFill>
                  <a:srgbClr val="5C2699"/>
                </a:solidFill>
                <a:latin typeface="Andale Mono"/>
                <a:ea typeface="Andale Mono"/>
                <a:cs typeface="Andale Mono"/>
              </a:rPr>
              <a:t>ClusterBackup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666600"/>
                </a:solidFill>
                <a:latin typeface="Andale Mono"/>
                <a:ea typeface="Andale Mono"/>
                <a:cs typeface="Andale Mono"/>
              </a:rPr>
              <a:t>backup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=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objectFromRs(rs);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result.add(backup);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}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return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result;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28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471281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7428428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Pourquoi avoir choisi elasticsearch-java</a:t>
            </a:r>
            <a:endParaRPr/>
          </a:p>
        </p:txBody>
      </p:sp>
      <p:sp>
        <p:nvSpPr>
          <p:cNvPr id="1999250750" name="Espace réservé du texte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Plutôt que Spring Data ?</a:t>
            </a:r>
            <a:endParaRPr/>
          </a:p>
        </p:txBody>
      </p:sp>
      <p:sp>
        <p:nvSpPr>
          <p:cNvPr id="977452599" name="Espace réservé du numéro de diapositive 5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44A1-294D-F861-87AF-02A1722AD367}" type="slidenum">
              <a:rPr lang="fr-FR"/>
              <a:t>7</a:t>
            </a:fld>
            <a:endParaRPr lang="fr-FR"/>
          </a:p>
        </p:txBody>
      </p:sp>
      <p:sp>
        <p:nvSpPr>
          <p:cNvPr id="831102742" name=""/>
          <p:cNvSpPr txBox="1"/>
          <p:nvPr/>
        </p:nvSpPr>
        <p:spPr bwMode="auto">
          <a:xfrm rot="0" flipH="0" flipV="0">
            <a:off x="7939936" y="4246698"/>
            <a:ext cx="3753783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Spring Data avait l’air plus simple...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147783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Les multiples connexions</a:t>
            </a:r>
            <a:endParaRPr/>
          </a:p>
        </p:txBody>
      </p:sp>
      <p:sp>
        <p:nvSpPr>
          <p:cNvPr id="1930843472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Pourquoi elasticsearch-java ?</a:t>
            </a:r>
            <a:endParaRPr lang="fr-FR"/>
          </a:p>
        </p:txBody>
      </p:sp>
      <p:sp>
        <p:nvSpPr>
          <p:cNvPr id="1379458625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23DC08-0D38-2F19-AE63-9DE2396BB7B4}" type="slidenum">
              <a:rPr lang="fr-FR"/>
              <a:t>13</a:t>
            </a:fld>
            <a:endParaRPr lang="fr-FR"/>
          </a:p>
        </p:txBody>
      </p:sp>
      <p:sp>
        <p:nvSpPr>
          <p:cNvPr id="1201112888" name=""/>
          <p:cNvSpPr txBox="1"/>
          <p:nvPr/>
        </p:nvSpPr>
        <p:spPr bwMode="auto">
          <a:xfrm rot="0" flipH="0" flipV="0">
            <a:off x="382587" y="1222374"/>
            <a:ext cx="5483368" cy="3779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b="0" i="0" u="none">
                <a:solidFill>
                  <a:srgbClr val="1C00CF"/>
                </a:solidFill>
                <a:latin typeface="Andale Mono"/>
                <a:ea typeface="Andale Mono"/>
                <a:cs typeface="Andale Mono"/>
              </a:rPr>
              <a:t>@Bean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public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ElasticsearchClient </a:t>
            </a:r>
            <a:r>
              <a:rPr sz="1400" b="0" i="0" u="none">
                <a:solidFill>
                  <a:srgbClr val="1C00CF"/>
                </a:solidFill>
                <a:latin typeface="Andale Mono"/>
                <a:ea typeface="Andale Mono"/>
                <a:cs typeface="Andale Mono"/>
              </a:rPr>
              <a:t>elkClient1</a:t>
            </a:r>
            <a:r>
              <a:rPr sz="1400" b="0" i="0" u="none">
                <a:solidFill>
                  <a:srgbClr val="5C2699"/>
                </a:solidFill>
                <a:latin typeface="Andale Mono"/>
                <a:ea typeface="Andale Mono"/>
                <a:cs typeface="Andale Mono"/>
              </a:rPr>
              <a:t>()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{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</a:t>
            </a: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return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elkClientMaker(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    </a:t>
            </a:r>
            <a:r>
              <a:rPr sz="1400" b="0" i="0" u="none">
                <a:solidFill>
                  <a:srgbClr val="C41A16"/>
                </a:solidFill>
                <a:latin typeface="Andale Mono"/>
                <a:ea typeface="Andale Mono"/>
                <a:cs typeface="Andale Mono"/>
              </a:rPr>
              <a:t>"http://localhost:9200"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,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    elkUsername,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    elkPassword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);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}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1C00CF"/>
                </a:solidFill>
                <a:latin typeface="Andale Mono"/>
                <a:ea typeface="Andale Mono"/>
                <a:cs typeface="Andale Mono"/>
              </a:rPr>
              <a:t>@Bean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public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ElasticsearchClient </a:t>
            </a:r>
            <a:r>
              <a:rPr sz="1400" b="0" i="0" u="none">
                <a:solidFill>
                  <a:srgbClr val="1C00CF"/>
                </a:solidFill>
                <a:latin typeface="Andale Mono"/>
                <a:ea typeface="Andale Mono"/>
                <a:cs typeface="Andale Mono"/>
              </a:rPr>
              <a:t>elkClient2</a:t>
            </a:r>
            <a:r>
              <a:rPr sz="1400" b="0" i="0" u="none">
                <a:solidFill>
                  <a:srgbClr val="5C2699"/>
                </a:solidFill>
                <a:latin typeface="Andale Mono"/>
                <a:ea typeface="Andale Mono"/>
                <a:cs typeface="Andale Mono"/>
              </a:rPr>
              <a:t>()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{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</a:t>
            </a: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return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elkClientMaker(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    </a:t>
            </a:r>
            <a:r>
              <a:rPr sz="1400" b="0" i="0" u="none">
                <a:solidFill>
                  <a:srgbClr val="C41A16"/>
                </a:solidFill>
                <a:latin typeface="Andale Mono"/>
                <a:ea typeface="Andale Mono"/>
                <a:cs typeface="Andale Mono"/>
              </a:rPr>
              <a:t>"http://localhost:9201"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,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    elkUsername,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    elkPassword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);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}</a:t>
            </a:r>
            <a:endParaRPr/>
          </a:p>
        </p:txBody>
      </p:sp>
      <p:sp>
        <p:nvSpPr>
          <p:cNvPr id="658734980" name=""/>
          <p:cNvSpPr txBox="1"/>
          <p:nvPr/>
        </p:nvSpPr>
        <p:spPr bwMode="auto">
          <a:xfrm rot="0" flipH="0" flipV="0">
            <a:off x="5224526" y="1222374"/>
            <a:ext cx="7045307" cy="3200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b="0" i="0" u="none">
                <a:solidFill>
                  <a:srgbClr val="1C00CF"/>
                </a:solidFill>
                <a:latin typeface="Andale Mono"/>
                <a:ea typeface="Andale Mono"/>
                <a:cs typeface="Andale Mono"/>
              </a:rPr>
              <a:t>@Service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public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class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1C00CF"/>
                </a:solidFill>
                <a:latin typeface="Andale Mono"/>
                <a:ea typeface="Andale Mono"/>
                <a:cs typeface="Andale Mono"/>
              </a:rPr>
              <a:t>ElkJavaService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{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</a:t>
            </a: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private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ElasticsearchClient esClient1;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</a:t>
            </a: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private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ElasticsearchClient esClient2;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</a:t>
            </a:r>
            <a:r>
              <a:rPr sz="1400" b="0" i="0" u="none">
                <a:solidFill>
                  <a:srgbClr val="AA0D91"/>
                </a:solidFill>
                <a:latin typeface="Andale Mono"/>
                <a:ea typeface="Andale Mono"/>
                <a:cs typeface="Andale Mono"/>
              </a:rPr>
              <a:t>public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</a:t>
            </a:r>
            <a:r>
              <a:rPr sz="1400" b="0" i="0" u="none">
                <a:solidFill>
                  <a:srgbClr val="1C00CF"/>
                </a:solidFill>
                <a:latin typeface="Andale Mono"/>
                <a:ea typeface="Andale Mono"/>
                <a:cs typeface="Andale Mono"/>
              </a:rPr>
              <a:t>ElkJavaService</a:t>
            </a:r>
            <a:r>
              <a:rPr sz="1400" b="0" i="0" u="none">
                <a:solidFill>
                  <a:srgbClr val="5C2699"/>
                </a:solidFill>
                <a:latin typeface="Andale Mono"/>
                <a:ea typeface="Andale Mono"/>
                <a:cs typeface="Andale Mono"/>
              </a:rPr>
              <a:t>(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    </a:t>
            </a:r>
            <a:r>
              <a:rPr sz="1400" b="0" i="0" u="none">
                <a:solidFill>
                  <a:srgbClr val="1C00CF"/>
                </a:solidFill>
                <a:latin typeface="Andale Mono"/>
                <a:ea typeface="Andale Mono"/>
                <a:cs typeface="Andale Mono"/>
              </a:rPr>
              <a:t>@Qualifier("elkClient1")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ElasticsearchClient esClient1,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    </a:t>
            </a:r>
            <a:r>
              <a:rPr sz="1400" b="0" i="0" u="none">
                <a:solidFill>
                  <a:srgbClr val="1C00CF"/>
                </a:solidFill>
                <a:latin typeface="Andale Mono"/>
                <a:ea typeface="Andale Mono"/>
                <a:cs typeface="Andale Mono"/>
              </a:rPr>
              <a:t>@Qualifier("elkClient2")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ElasticsearchClient esClient2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) {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    </a:t>
            </a:r>
            <a:r>
              <a:rPr sz="1400" b="0" i="0" u="none">
                <a:solidFill>
                  <a:srgbClr val="5C2699"/>
                </a:solidFill>
                <a:latin typeface="Andale Mono"/>
                <a:ea typeface="Andale Mono"/>
                <a:cs typeface="Andale Mono"/>
              </a:rPr>
              <a:t>this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.esClient1 = esClient1;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    </a:t>
            </a:r>
            <a:r>
              <a:rPr sz="1400" b="0" i="0" u="none">
                <a:solidFill>
                  <a:srgbClr val="5C2699"/>
                </a:solidFill>
                <a:latin typeface="Andale Mono"/>
                <a:ea typeface="Andale Mono"/>
                <a:cs typeface="Andale Mono"/>
              </a:rPr>
              <a:t>this</a:t>
            </a: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.esClient2 = esClient2;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    }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}</a:t>
            </a:r>
            <a:endParaRPr/>
          </a:p>
        </p:txBody>
      </p:sp>
      <p:cxnSp>
        <p:nvCxnSpPr>
          <p:cNvPr id="585801899" name=""/>
          <p:cNvCxnSpPr/>
          <p:nvPr/>
        </p:nvCxnSpPr>
        <p:spPr bwMode="auto">
          <a:xfrm flipH="0" flipV="0">
            <a:off x="5100588" y="1195293"/>
            <a:ext cx="0" cy="4034117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23949649" name=""/>
          <p:cNvSpPr txBox="1"/>
          <p:nvPr/>
        </p:nvSpPr>
        <p:spPr bwMode="auto">
          <a:xfrm rot="0" flipH="0" flipV="0">
            <a:off x="2461209" y="5469193"/>
            <a:ext cx="799904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Idéalement, on utilise un design pattern Factory pour un peu plus de propreté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11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01112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80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85801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73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58734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49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9239496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23949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923949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5203146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Petite démonstration</a:t>
            </a:r>
            <a:endParaRPr/>
          </a:p>
        </p:txBody>
      </p:sp>
      <p:sp>
        <p:nvSpPr>
          <p:cNvPr id="574690954" name="Espace réservé du texte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757615" name="Espace réservé du numéro de diapositive 5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42633A-AAD3-E63C-49C4-26E1F38B8308}" type="slidenum">
              <a:rPr lang="fr-FR"/>
              <a:t>15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6404342" name="Titre 7"/>
          <p:cNvSpPr>
            <a:spLocks noGrp="1"/>
          </p:cNvSpPr>
          <p:nvPr>
            <p:ph type="ctrTitle"/>
          </p:nvPr>
        </p:nvSpPr>
        <p:spPr bwMode="auto">
          <a:xfrm>
            <a:off x="866775" y="327025"/>
            <a:ext cx="10980738" cy="3240088"/>
          </a:xfrm>
        </p:spPr>
        <p:txBody>
          <a:bodyPr rtlCol="0"/>
          <a:lstStyle/>
          <a:p>
            <a:pPr>
              <a:spcAft>
                <a:spcPts val="0"/>
              </a:spcAft>
              <a:defRPr/>
            </a:pPr>
            <a:r>
              <a:rPr lang="fr-FR"/>
              <a:t>MERCI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La Poste Groupe - Bleu">
  <a:themeElements>
    <a:clrScheme name="La Poste Groupe">
      <a:dk1>
        <a:srgbClr val="003DA5"/>
      </a:dk1>
      <a:lt1>
        <a:srgbClr val="FFFFFF"/>
      </a:lt1>
      <a:dk2>
        <a:srgbClr val="FFCB05"/>
      </a:dk2>
      <a:lt2>
        <a:srgbClr val="FFFFFF"/>
      </a:lt2>
      <a:accent1>
        <a:srgbClr val="1AA6A6"/>
      </a:accent1>
      <a:accent2>
        <a:srgbClr val="009739"/>
      </a:accent2>
      <a:accent3>
        <a:srgbClr val="F12535"/>
      </a:accent3>
      <a:accent4>
        <a:srgbClr val="FFCB05"/>
      </a:accent4>
      <a:accent5>
        <a:srgbClr val="003DA5"/>
      </a:accent5>
      <a:accent6>
        <a:srgbClr val="1AA6A6"/>
      </a:accent6>
      <a:hlink>
        <a:srgbClr val="003DA5"/>
      </a:hlink>
      <a:folHlink>
        <a:srgbClr val="FFCB05"/>
      </a:folHlink>
    </a:clrScheme>
    <a:fontScheme name="La Poste Groupe">
      <a:majorFont>
        <a:latin typeface="Montserrat Extrabold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prstGeom prst="rect">
          <a:avLst/>
        </a:prstGeom>
        <a:noFill/>
      </a:spPr>
      <a:bodyPr/>
      <a:lstStyle/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customXml/_rels/item1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1.xml"/></Relationships>
</file>

<file path=customXml/_rels/item2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2.xml"/></Relationships>
</file>

<file path=customXml/_rels/item3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4F3D981386D2479796DB0AE4B273B9" ma:contentTypeVersion="3" ma:contentTypeDescription="Crée un document." ma:contentTypeScope="" ma:versionID="8537ecc5a979d535ce1ed8012a3dd0f9">
  <xsd:schema xmlns:xsd="http://www.w3.org/2001/XMLSchema" xmlns:xs="http://www.w3.org/2001/XMLSchema" xmlns:p="http://schemas.microsoft.com/office/2006/metadata/properties" xmlns:ns2="816b08cd-c25c-4e41-be50-a9e69b725d99" targetNamespace="http://schemas.microsoft.com/office/2006/metadata/properties" ma:root="true" ma:fieldsID="b8f2c4a7f08a821e7a314091d26ff66b" ns2:_="">
    <xsd:import namespace="816b08cd-c25c-4e41-be50-a9e69b725d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6b08cd-c25c-4e41-be50-a9e69b725d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C1FDEFEE-32F4-41BA-B8DF-4846B648F842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4cbc2c2a-65a4-4c04-b145-cacf332cdf39"/>
    <ds:schemaRef ds:uri="http://purl.org/dc/elements/1.1/"/>
    <ds:schemaRef ds:uri="http://schemas.microsoft.com/office/2006/metadata/properties"/>
    <ds:schemaRef ds:uri="http://schemas.microsoft.com/office/infopath/2007/PartnerControls"/>
    <ds:schemaRef ds:uri="11a77ce6-0047-4ad7-9be6-60e93ed68fe1"/>
    <ds:schemaRef ds:uri="http://www.w3.org/XML/1998/namespace"/>
    <ds:schemaRef ds:uri="http://purl.org/dc/dcmitype/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BA9D89EB-7F86-4EF9-A697-87E5542A3BD1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6b08cd-c25c-4e41-be50-a9e69b725d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2001/XMLSchema-instance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898A6524-7A0C-4497-8FA7-16E25C493C94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18</Slides>
  <Notes>18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La Poste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 DE VOTRE PRÉSENTATION [MONTSERRAT 60 PT]</dc:title>
  <dc:creator>MACCARI Martial</dc:creator>
  <cp:lastModifiedBy/>
  <cp:revision>9</cp:revision>
  <dcterms:created xsi:type="dcterms:W3CDTF">2022-06-24T09:01:46Z</dcterms:created>
  <dcterms:modified xsi:type="dcterms:W3CDTF">2026-06-18T12:01:55Z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0x010100A84F3D981386D2479796DB0AE4B273B9</vt:lpwstr>
  </property>
  <property fmtid="{D5CDD505-2E9C-101B-9397-08002B2CF9AE}" pid="3" name="MediaServiceImageTags">
    <vt:lpwstr/>
  </property>
  <property fmtid="{D5CDD505-2E9C-101B-9397-08002B2CF9AE}" pid="4" name="Order">
    <vt:r8>6919200.000000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